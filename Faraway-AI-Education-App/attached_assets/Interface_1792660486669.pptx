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1" r:id="rId4"/>
    <p:sldId id="259" r:id="rId5"/>
    <p:sldId id="263" r:id="rId6"/>
    <p:sldId id="264" r:id="rId7"/>
    <p:sldId id="257" r:id="rId8"/>
    <p:sldId id="260" r:id="rId9"/>
    <p:sldId id="265" r:id="rId10"/>
    <p:sldId id="266" r:id="rId11"/>
    <p:sldId id="267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3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531D8-206B-47B6-9F2C-17AF8E58B74E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DBAF5-E340-4D43-B63C-974FF8523B4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012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C8E2-82D9-6077-68CA-ECB3B4FAB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976CE-4016-70E6-0954-3A3D3F4C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4F2EE-A797-049A-5CC1-985C399E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33795-FA33-F2F6-2787-80D00888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2426D-2D47-2D94-14B1-AD986AAC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941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6113-9D6D-C6CA-E14D-834A4EC7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56D7C-72C9-F250-811C-907102E16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39E52-CAEB-B6D8-5C82-3AA6C1C1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D0C32-2940-2DB8-56DD-7940D9E9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6E387-B7A8-EFE2-759C-3B8486B9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563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03F7-25A4-AE59-F449-015C3ADB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F9CF-2D55-68D8-8A7D-49A6093D6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8BD62-A785-6C12-0611-CB0324EC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1A72E-64DA-60F6-F689-70E02C876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5D8E-DA61-DE02-BB16-957B1E18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342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2FDA-55FE-40AE-E945-88BF892B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8244-FDA5-D7FA-8BF6-BB311A524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F86CA-2998-F88F-B917-E4E86BB1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17572-351C-4565-3816-184D6176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5C163-F090-2958-E6FE-C699485A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BFAD5-2325-D866-A3A7-7516356F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765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BEE0-C6F3-720B-E1D5-E8A6BDE4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4D9AB-E38A-33CF-02DC-A6AEA3A72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31D8A-782D-C004-5A7B-20A82C799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6496A-88D7-4A86-5AE5-12C4C11E4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6F693-0450-6642-2957-6B2511ADE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3C9D22-DF6F-909B-5CEA-D9EE0688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5B16A-F5F6-ABE6-7856-18154B8F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F2CEC-C077-B382-0486-51B0A1F3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605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B718-27FB-5317-AB41-F65F2004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535FD-EEA0-B788-1764-A8C17D0C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B4762-382C-9238-E679-D5FC67B7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7B67B-2458-FE9B-43FC-12DEFC1A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007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71164-9A1A-E95F-E852-38A0B7FF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2CDE7-FBA6-4DEF-752C-6E46E69E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F5A6E-3CE2-BD54-E6AE-84C85C1C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575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2F9A-76C5-A64B-C4A6-FC686F22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BE45-39D6-C03F-3C84-36EAC4F0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9BBC-4FAC-ECEE-256D-5BA670B02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2C463-C222-EF37-2D5F-5B63DE85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5A15D-D3F6-2867-A4A1-833054D5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07FBC-04AB-1107-AF15-6B666498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80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53ED-C2B0-0651-41FA-B6F083B20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81B09-CAA5-A186-CC2F-93E706AB8B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F242A-C492-5F8E-6FDB-C9FA9F0F5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A2F16-5693-E06A-6BDE-8C9ED25A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AE55A-C910-0D8A-4009-EF290C86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0BE0-883B-7DF1-EE39-F13CD4C2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2085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57EB-435A-5DDB-24F1-FA96302E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CD5C6-FE63-D9AB-E115-885739A2E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4D1C-105F-92EB-76CB-00D92ADC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2A79-93B5-26A1-EAC1-791DD34C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6729-55B5-F62C-8356-AD1A48A7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6731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A5D33-CD8B-6C32-49D6-552D24BF2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BE05D-5E9F-0859-933F-442DD6043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D595-B0EE-E1F8-E942-1C971058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28D6E-13FE-9CCD-4B4F-F8C75C9D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79E7C-F217-C61B-08CB-8147F196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375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FC8DC-3B26-CBA4-6B03-6841CB96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8D6BE-6610-8F52-C6D8-514A79FD2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A88B-57D9-8848-EDCC-5ABFF7444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1AF55-4114-4952-9DBB-E2FB4BDCAD46}" type="datetimeFigureOut">
              <a:rPr lang="en-MY" smtClean="0"/>
              <a:t>22/10/2026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48FF-8395-854C-2446-51F0321C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C4639-A459-467B-EEF4-8F1C2A10F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6359D-CBFD-425E-B987-F59A284E853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700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png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4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604190-683F-E81F-E682-94C8D6747CC7}"/>
              </a:ext>
            </a:extLst>
          </p:cNvPr>
          <p:cNvSpPr/>
          <p:nvPr/>
        </p:nvSpPr>
        <p:spPr>
          <a:xfrm>
            <a:off x="557841" y="402566"/>
            <a:ext cx="592347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71985-D484-71AE-9B89-E210C4C31DD9}"/>
              </a:ext>
            </a:extLst>
          </p:cNvPr>
          <p:cNvSpPr txBox="1"/>
          <p:nvPr/>
        </p:nvSpPr>
        <p:spPr>
          <a:xfrm>
            <a:off x="1345721" y="499696"/>
            <a:ext cx="120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FARAWAY</a:t>
            </a:r>
            <a:endParaRPr lang="en-MY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124257-0184-5919-8426-13CC98DBA2EC}"/>
              </a:ext>
            </a:extLst>
          </p:cNvPr>
          <p:cNvSpPr/>
          <p:nvPr/>
        </p:nvSpPr>
        <p:spPr>
          <a:xfrm>
            <a:off x="6941389" y="499696"/>
            <a:ext cx="4692770" cy="57458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AD0BC-0C43-C0EE-C148-2756BCB22375}"/>
              </a:ext>
            </a:extLst>
          </p:cNvPr>
          <p:cNvSpPr/>
          <p:nvPr/>
        </p:nvSpPr>
        <p:spPr>
          <a:xfrm>
            <a:off x="557841" y="1540298"/>
            <a:ext cx="5492151" cy="18323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B58985-D988-172A-00ED-EED6B00973A3}"/>
              </a:ext>
            </a:extLst>
          </p:cNvPr>
          <p:cNvSpPr/>
          <p:nvPr/>
        </p:nvSpPr>
        <p:spPr>
          <a:xfrm>
            <a:off x="1345721" y="3955559"/>
            <a:ext cx="3856464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 with Google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7CA4F7-4E15-639E-1A0C-EDFA0138102A}"/>
              </a:ext>
            </a:extLst>
          </p:cNvPr>
          <p:cNvSpPr/>
          <p:nvPr/>
        </p:nvSpPr>
        <p:spPr>
          <a:xfrm>
            <a:off x="1345721" y="4578311"/>
            <a:ext cx="3856464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 with …</a:t>
            </a:r>
            <a:endParaRPr lang="en-MY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9FE5F-945E-52BB-DFE7-0984A81ABAE9}"/>
              </a:ext>
            </a:extLst>
          </p:cNvPr>
          <p:cNvSpPr txBox="1"/>
          <p:nvPr/>
        </p:nvSpPr>
        <p:spPr>
          <a:xfrm>
            <a:off x="4057747" y="5186897"/>
            <a:ext cx="11608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 acc? Sign up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406589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DAB8-80C4-738B-4D7B-9BE8AE05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20D857-B50F-3543-C438-71EAEE6C8985}"/>
              </a:ext>
            </a:extLst>
          </p:cNvPr>
          <p:cNvSpPr/>
          <p:nvPr/>
        </p:nvSpPr>
        <p:spPr>
          <a:xfrm>
            <a:off x="4250837" y="1179286"/>
            <a:ext cx="3690326" cy="4499428"/>
          </a:xfrm>
          <a:prstGeom prst="roundRect">
            <a:avLst>
              <a:gd name="adj" fmla="val 8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20AF4A-D64B-653F-09AE-F46C6E85249E}"/>
              </a:ext>
            </a:extLst>
          </p:cNvPr>
          <p:cNvSpPr/>
          <p:nvPr/>
        </p:nvSpPr>
        <p:spPr>
          <a:xfrm>
            <a:off x="4461294" y="2358987"/>
            <a:ext cx="3272971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48048F-BC05-47E0-2F56-7CA0F021AF9B}"/>
              </a:ext>
            </a:extLst>
          </p:cNvPr>
          <p:cNvSpPr/>
          <p:nvPr/>
        </p:nvSpPr>
        <p:spPr>
          <a:xfrm>
            <a:off x="4459512" y="3390753"/>
            <a:ext cx="3272971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BFA14E-2540-7D59-D593-1239632C4C28}"/>
              </a:ext>
            </a:extLst>
          </p:cNvPr>
          <p:cNvSpPr/>
          <p:nvPr/>
        </p:nvSpPr>
        <p:spPr>
          <a:xfrm>
            <a:off x="5379250" y="4660734"/>
            <a:ext cx="1433494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</a:t>
            </a:r>
            <a:endParaRPr lang="en-M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84069-768B-C730-B201-4D3881E4BE62}"/>
              </a:ext>
            </a:extLst>
          </p:cNvPr>
          <p:cNvSpPr txBox="1"/>
          <p:nvPr/>
        </p:nvSpPr>
        <p:spPr>
          <a:xfrm>
            <a:off x="442686" y="333829"/>
            <a:ext cx="139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Signup page</a:t>
            </a:r>
            <a:endParaRPr lang="en-MY" u="sng" dirty="0"/>
          </a:p>
        </p:txBody>
      </p:sp>
    </p:spTree>
    <p:extLst>
      <p:ext uri="{BB962C8B-B14F-4D97-AF65-F5344CB8AC3E}">
        <p14:creationId xmlns:p14="http://schemas.microsoft.com/office/powerpoint/2010/main" val="48203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77EB-918C-DB9A-9F1C-FDDDEC99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A9DE48-EC07-6570-08EA-BACB037A261C}"/>
              </a:ext>
            </a:extLst>
          </p:cNvPr>
          <p:cNvSpPr/>
          <p:nvPr/>
        </p:nvSpPr>
        <p:spPr>
          <a:xfrm>
            <a:off x="735693" y="1308868"/>
            <a:ext cx="11005509" cy="24149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  <a:endParaRPr lang="en-MY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BADDF0-4506-72D1-9979-8A3A4EBDECEB}"/>
              </a:ext>
            </a:extLst>
          </p:cNvPr>
          <p:cNvSpPr/>
          <p:nvPr/>
        </p:nvSpPr>
        <p:spPr>
          <a:xfrm>
            <a:off x="1278139" y="4612821"/>
            <a:ext cx="3391859" cy="6413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Personal</a:t>
            </a:r>
            <a:endParaRPr lang="en-MY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7BFA5E-80EE-0ED1-B5CF-DCDEB6955C54}"/>
              </a:ext>
            </a:extLst>
          </p:cNvPr>
          <p:cNvSpPr/>
          <p:nvPr/>
        </p:nvSpPr>
        <p:spPr>
          <a:xfrm>
            <a:off x="7710689" y="4612821"/>
            <a:ext cx="3391859" cy="6413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Organization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5946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90B8-BB57-AA21-8F18-080F3A8A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CB8472-59ED-36ED-12A9-0181DDCF0FC4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ACDF17-714A-CA7B-1209-19C68DC4DE42}"/>
              </a:ext>
            </a:extLst>
          </p:cNvPr>
          <p:cNvGrpSpPr/>
          <p:nvPr/>
        </p:nvGrpSpPr>
        <p:grpSpPr>
          <a:xfrm rot="21396250">
            <a:off x="195801" y="92197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8D62E97A-851D-B162-94EA-207282F34F33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EAC64E65-1DEA-0C5A-E43F-1C3DFCA1AA11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21" name="Graphic 20" descr="Atom with solid fill">
            <a:extLst>
              <a:ext uri="{FF2B5EF4-FFF2-40B4-BE49-F238E27FC236}">
                <a16:creationId xmlns:a16="http://schemas.microsoft.com/office/drawing/2014/main" id="{59735AB0-8C5A-4757-F7AE-99CE2329A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70" y="1076709"/>
            <a:ext cx="666750" cy="66675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BF8058-6698-9C83-2A34-9F5DD9ACB6E8}"/>
              </a:ext>
            </a:extLst>
          </p:cNvPr>
          <p:cNvCxnSpPr/>
          <p:nvPr/>
        </p:nvCxnSpPr>
        <p:spPr>
          <a:xfrm>
            <a:off x="2139438" y="1520058"/>
            <a:ext cx="8830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BAA0B6F-2FA8-DC7C-3936-4427E744DADA}"/>
              </a:ext>
            </a:extLst>
          </p:cNvPr>
          <p:cNvSpPr/>
          <p:nvPr/>
        </p:nvSpPr>
        <p:spPr>
          <a:xfrm>
            <a:off x="11452474" y="17496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C5B686-230A-40CC-A249-12DA43D58183}"/>
              </a:ext>
            </a:extLst>
          </p:cNvPr>
          <p:cNvSpPr/>
          <p:nvPr/>
        </p:nvSpPr>
        <p:spPr>
          <a:xfrm>
            <a:off x="11419174" y="652440"/>
            <a:ext cx="426600" cy="89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39A94F-FDAB-6800-DC15-29C563A324C0}"/>
              </a:ext>
            </a:extLst>
          </p:cNvPr>
          <p:cNvSpPr/>
          <p:nvPr/>
        </p:nvSpPr>
        <p:spPr>
          <a:xfrm>
            <a:off x="3431718" y="1484058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D19B08-E6C7-B9F8-913A-631C0DD35A7C}"/>
              </a:ext>
            </a:extLst>
          </p:cNvPr>
          <p:cNvSpPr/>
          <p:nvPr/>
        </p:nvSpPr>
        <p:spPr>
          <a:xfrm>
            <a:off x="5105843" y="1484058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DAEC7E-90F5-8832-B073-9513A97BA2E7}"/>
              </a:ext>
            </a:extLst>
          </p:cNvPr>
          <p:cNvSpPr/>
          <p:nvPr/>
        </p:nvSpPr>
        <p:spPr>
          <a:xfrm>
            <a:off x="6625364" y="1468880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1141B0-3C5F-B924-7117-036B0F965EB8}"/>
              </a:ext>
            </a:extLst>
          </p:cNvPr>
          <p:cNvSpPr/>
          <p:nvPr/>
        </p:nvSpPr>
        <p:spPr>
          <a:xfrm>
            <a:off x="8108885" y="1468880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7DE61A0-E7CF-363F-5352-BC36743C4F85}"/>
              </a:ext>
            </a:extLst>
          </p:cNvPr>
          <p:cNvSpPr/>
          <p:nvPr/>
        </p:nvSpPr>
        <p:spPr>
          <a:xfrm>
            <a:off x="9592406" y="1468880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88922B-D67F-0E68-30F4-AC96587614CA}"/>
              </a:ext>
            </a:extLst>
          </p:cNvPr>
          <p:cNvCxnSpPr>
            <a:cxnSpLocks/>
          </p:cNvCxnSpPr>
          <p:nvPr/>
        </p:nvCxnSpPr>
        <p:spPr>
          <a:xfrm>
            <a:off x="1203053" y="973909"/>
            <a:ext cx="10609421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C0ED6B-F8C0-565F-9589-CE02646600BF}"/>
              </a:ext>
            </a:extLst>
          </p:cNvPr>
          <p:cNvCxnSpPr>
            <a:cxnSpLocks/>
          </p:cNvCxnSpPr>
          <p:nvPr/>
        </p:nvCxnSpPr>
        <p:spPr>
          <a:xfrm>
            <a:off x="3035525" y="1902824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9BECE5-678A-3333-3299-AA90F8DD8223}"/>
              </a:ext>
            </a:extLst>
          </p:cNvPr>
          <p:cNvCxnSpPr>
            <a:cxnSpLocks/>
          </p:cNvCxnSpPr>
          <p:nvPr/>
        </p:nvCxnSpPr>
        <p:spPr>
          <a:xfrm>
            <a:off x="4752282" y="1902824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38E3027-0B75-79E7-3404-F99A69952E11}"/>
              </a:ext>
            </a:extLst>
          </p:cNvPr>
          <p:cNvCxnSpPr>
            <a:cxnSpLocks/>
          </p:cNvCxnSpPr>
          <p:nvPr/>
        </p:nvCxnSpPr>
        <p:spPr>
          <a:xfrm>
            <a:off x="6229171" y="1902824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A9476-89D5-2A9A-BFE4-D4117D1BFF53}"/>
              </a:ext>
            </a:extLst>
          </p:cNvPr>
          <p:cNvCxnSpPr>
            <a:cxnSpLocks/>
          </p:cNvCxnSpPr>
          <p:nvPr/>
        </p:nvCxnSpPr>
        <p:spPr>
          <a:xfrm>
            <a:off x="7774439" y="1889762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81BEF0-02F7-DB47-1868-2C3420A2D6DB}"/>
              </a:ext>
            </a:extLst>
          </p:cNvPr>
          <p:cNvCxnSpPr>
            <a:cxnSpLocks/>
          </p:cNvCxnSpPr>
          <p:nvPr/>
        </p:nvCxnSpPr>
        <p:spPr>
          <a:xfrm>
            <a:off x="9440397" y="1889762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5D00B3A-DE09-A298-10CB-DF188659199A}"/>
              </a:ext>
            </a:extLst>
          </p:cNvPr>
          <p:cNvSpPr txBox="1"/>
          <p:nvPr/>
        </p:nvSpPr>
        <p:spPr>
          <a:xfrm>
            <a:off x="1175657" y="660400"/>
            <a:ext cx="2346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Workspace / Personal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2ED145A-5642-B891-A72B-723628E796F7}"/>
              </a:ext>
            </a:extLst>
          </p:cNvPr>
          <p:cNvSpPr/>
          <p:nvPr/>
        </p:nvSpPr>
        <p:spPr>
          <a:xfrm>
            <a:off x="1285036" y="2530459"/>
            <a:ext cx="10527438" cy="2150398"/>
          </a:xfrm>
          <a:prstGeom prst="roundRect">
            <a:avLst>
              <a:gd name="adj" fmla="val 8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227E72B-EDC5-0837-0C72-6F49BEC7CBD6}"/>
              </a:ext>
            </a:extLst>
          </p:cNvPr>
          <p:cNvSpPr/>
          <p:nvPr/>
        </p:nvSpPr>
        <p:spPr>
          <a:xfrm>
            <a:off x="1761896" y="3971305"/>
            <a:ext cx="2286000" cy="3829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Explore my pathway</a:t>
            </a:r>
            <a:endParaRPr lang="en-MY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9C291E9-1ED4-A7F9-F644-1B09FD21F21A}"/>
              </a:ext>
            </a:extLst>
          </p:cNvPr>
          <p:cNvSpPr/>
          <p:nvPr/>
        </p:nvSpPr>
        <p:spPr>
          <a:xfrm>
            <a:off x="4161404" y="4083164"/>
            <a:ext cx="101600" cy="159657"/>
          </a:xfrm>
          <a:custGeom>
            <a:avLst/>
            <a:gdLst>
              <a:gd name="csX0" fmla="*/ 0 w 283029"/>
              <a:gd name="csY0" fmla="*/ 0 h 355600"/>
              <a:gd name="csX1" fmla="*/ 283029 w 283029"/>
              <a:gd name="csY1" fmla="*/ 195943 h 355600"/>
              <a:gd name="csX2" fmla="*/ 283029 w 283029"/>
              <a:gd name="csY2" fmla="*/ 195943 h 355600"/>
              <a:gd name="csX3" fmla="*/ 36286 w 283029"/>
              <a:gd name="csY3" fmla="*/ 355600 h 355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3029" h="355600">
                <a:moveTo>
                  <a:pt x="0" y="0"/>
                </a:moveTo>
                <a:lnTo>
                  <a:pt x="283029" y="195943"/>
                </a:lnTo>
                <a:lnTo>
                  <a:pt x="283029" y="195943"/>
                </a:lnTo>
                <a:lnTo>
                  <a:pt x="36286" y="3556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F844643-2EB4-EC04-A2BA-F55740E17017}"/>
              </a:ext>
            </a:extLst>
          </p:cNvPr>
          <p:cNvSpPr/>
          <p:nvPr/>
        </p:nvSpPr>
        <p:spPr>
          <a:xfrm>
            <a:off x="4263004" y="4083163"/>
            <a:ext cx="101600" cy="159657"/>
          </a:xfrm>
          <a:custGeom>
            <a:avLst/>
            <a:gdLst>
              <a:gd name="csX0" fmla="*/ 0 w 283029"/>
              <a:gd name="csY0" fmla="*/ 0 h 355600"/>
              <a:gd name="csX1" fmla="*/ 283029 w 283029"/>
              <a:gd name="csY1" fmla="*/ 195943 h 355600"/>
              <a:gd name="csX2" fmla="*/ 283029 w 283029"/>
              <a:gd name="csY2" fmla="*/ 195943 h 355600"/>
              <a:gd name="csX3" fmla="*/ 36286 w 283029"/>
              <a:gd name="csY3" fmla="*/ 355600 h 355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3029" h="355600">
                <a:moveTo>
                  <a:pt x="0" y="0"/>
                </a:moveTo>
                <a:lnTo>
                  <a:pt x="283029" y="195943"/>
                </a:lnTo>
                <a:lnTo>
                  <a:pt x="283029" y="195943"/>
                </a:lnTo>
                <a:lnTo>
                  <a:pt x="36286" y="3556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96A4F68-9B0A-F130-951E-8FD70AE8E1BF}"/>
              </a:ext>
            </a:extLst>
          </p:cNvPr>
          <p:cNvCxnSpPr/>
          <p:nvPr/>
        </p:nvCxnSpPr>
        <p:spPr>
          <a:xfrm>
            <a:off x="11662229" y="5261429"/>
            <a:ext cx="0" cy="113211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82E5768-C2A2-F85B-A7CC-847C68D7EC06}"/>
              </a:ext>
            </a:extLst>
          </p:cNvPr>
          <p:cNvSpPr txBox="1"/>
          <p:nvPr/>
        </p:nvSpPr>
        <p:spPr>
          <a:xfrm>
            <a:off x="10148350" y="5642820"/>
            <a:ext cx="14841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chemeClr val="bg2"/>
                </a:solidFill>
              </a:rPr>
              <a:t>(Scroll down)</a:t>
            </a:r>
          </a:p>
        </p:txBody>
      </p:sp>
      <p:pic>
        <p:nvPicPr>
          <p:cNvPr id="54" name="Graphic 53" descr="Briefcase with solid fill">
            <a:extLst>
              <a:ext uri="{FF2B5EF4-FFF2-40B4-BE49-F238E27FC236}">
                <a16:creationId xmlns:a16="http://schemas.microsoft.com/office/drawing/2014/main" id="{4EA61473-B3BB-5537-FE2E-B030F9FD3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310" y="2425394"/>
            <a:ext cx="644377" cy="644377"/>
          </a:xfrm>
          <a:prstGeom prst="rect">
            <a:avLst/>
          </a:prstGeom>
        </p:spPr>
      </p:pic>
      <p:pic>
        <p:nvPicPr>
          <p:cNvPr id="56" name="Graphic 55" descr="Bar graph with upward trend with solid fill">
            <a:extLst>
              <a:ext uri="{FF2B5EF4-FFF2-40B4-BE49-F238E27FC236}">
                <a16:creationId xmlns:a16="http://schemas.microsoft.com/office/drawing/2014/main" id="{6D915154-4C15-A121-9880-3273B8C43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58" name="Graphic 57" descr="Brain in head with solid fill">
            <a:extLst>
              <a:ext uri="{FF2B5EF4-FFF2-40B4-BE49-F238E27FC236}">
                <a16:creationId xmlns:a16="http://schemas.microsoft.com/office/drawing/2014/main" id="{9AE3B145-4CF5-1571-64DA-CE98969E9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09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1F1CE-CD37-18FA-C545-3B25E9F6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3C1B0C-DDB1-3EF0-60BF-307FA2C1D7EC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BF0463-5959-44E1-F166-7C496A544B45}"/>
              </a:ext>
            </a:extLst>
          </p:cNvPr>
          <p:cNvGrpSpPr/>
          <p:nvPr/>
        </p:nvGrpSpPr>
        <p:grpSpPr>
          <a:xfrm rot="21396250">
            <a:off x="195801" y="92197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22090689-1D3C-226B-304C-D889C4E51873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EC75FB2B-9D80-E112-DEF7-2A073E0E5FEF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21" name="Graphic 20" descr="Atom with solid fill">
            <a:extLst>
              <a:ext uri="{FF2B5EF4-FFF2-40B4-BE49-F238E27FC236}">
                <a16:creationId xmlns:a16="http://schemas.microsoft.com/office/drawing/2014/main" id="{C50AB20C-3381-FCCE-C32D-408D8D0C4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70" y="1076709"/>
            <a:ext cx="666750" cy="6667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0F4F8EC-80C3-B95D-899D-9CCDE36DFF26}"/>
              </a:ext>
            </a:extLst>
          </p:cNvPr>
          <p:cNvSpPr/>
          <p:nvPr/>
        </p:nvSpPr>
        <p:spPr>
          <a:xfrm>
            <a:off x="11452474" y="17496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CCF610-AF03-F847-6ED3-32E95E83CD52}"/>
              </a:ext>
            </a:extLst>
          </p:cNvPr>
          <p:cNvSpPr/>
          <p:nvPr/>
        </p:nvSpPr>
        <p:spPr>
          <a:xfrm>
            <a:off x="11419174" y="652440"/>
            <a:ext cx="426600" cy="89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C1F6BC-A425-08FD-9208-005BE16AAE7A}"/>
              </a:ext>
            </a:extLst>
          </p:cNvPr>
          <p:cNvCxnSpPr>
            <a:cxnSpLocks/>
          </p:cNvCxnSpPr>
          <p:nvPr/>
        </p:nvCxnSpPr>
        <p:spPr>
          <a:xfrm>
            <a:off x="1203053" y="973909"/>
            <a:ext cx="10609421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346E64C-6924-61A5-B2D2-4C4A4EB09C85}"/>
              </a:ext>
            </a:extLst>
          </p:cNvPr>
          <p:cNvSpPr txBox="1"/>
          <p:nvPr/>
        </p:nvSpPr>
        <p:spPr>
          <a:xfrm>
            <a:off x="1175657" y="660400"/>
            <a:ext cx="2346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Workspace / Personal</a:t>
            </a:r>
          </a:p>
        </p:txBody>
      </p:sp>
      <p:pic>
        <p:nvPicPr>
          <p:cNvPr id="23" name="Picture 22" descr="Explore my pathway.&#10;&#10;AI-generated content may be incorrect.">
            <a:extLst>
              <a:ext uri="{FF2B5EF4-FFF2-40B4-BE49-F238E27FC236}">
                <a16:creationId xmlns:a16="http://schemas.microsoft.com/office/drawing/2014/main" id="{60C87646-6FDD-B297-A31C-80FBC939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228"/>
          <a:stretch>
            <a:fillRect/>
          </a:stretch>
        </p:blipFill>
        <p:spPr>
          <a:xfrm>
            <a:off x="1203053" y="983903"/>
            <a:ext cx="10609420" cy="1322883"/>
          </a:xfrm>
          <a:prstGeom prst="rect">
            <a:avLst/>
          </a:prstGeom>
        </p:spPr>
      </p:pic>
      <p:pic>
        <p:nvPicPr>
          <p:cNvPr id="31" name="Picture 30" descr="The image displays a personalized career development dashboard, highlighting a 78% readiness score for a data analyst role, with a 70% skill improvement target, and a visual representation of completed learning steps.&#10;&#10;AI-generated content may be incorrect.">
            <a:extLst>
              <a:ext uri="{FF2B5EF4-FFF2-40B4-BE49-F238E27FC236}">
                <a16:creationId xmlns:a16="http://schemas.microsoft.com/office/drawing/2014/main" id="{84AF49BF-12F3-B8DE-7C9B-18CB0855E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027" y="2306786"/>
            <a:ext cx="9779471" cy="15846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4EF3C1C-28D1-48F1-C08E-9B362B6C3492}"/>
              </a:ext>
            </a:extLst>
          </p:cNvPr>
          <p:cNvSpPr txBox="1"/>
          <p:nvPr/>
        </p:nvSpPr>
        <p:spPr>
          <a:xfrm>
            <a:off x="4235450" y="2306786"/>
            <a:ext cx="485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2">
                    <a:lumMod val="75000"/>
                  </a:schemeClr>
                </a:solidFill>
              </a:rPr>
              <a:t>(remain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empty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or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dash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when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cv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not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bg2">
                    <a:lumMod val="75000"/>
                  </a:schemeClr>
                </a:solidFill>
              </a:rPr>
              <a:t>uploaded)</a:t>
            </a:r>
            <a:endParaRPr lang="en-MY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8" name="Picture 37" descr="The image displays a skills summary with categories such as Data Analysis, Cybersecurity, Python, Project, Sustainability, Communication, and Critical Thinking, alongside a future target year of 2030.&#10;&#10;AI-generated content may be incorrect.">
            <a:extLst>
              <a:ext uri="{FF2B5EF4-FFF2-40B4-BE49-F238E27FC236}">
                <a16:creationId xmlns:a16="http://schemas.microsoft.com/office/drawing/2014/main" id="{E4C49938-D030-CFB6-AAD2-E139EBF62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503" y="4093179"/>
            <a:ext cx="3506423" cy="23873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/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4EB4A8D-67EC-DE0D-7F17-82BDE05BB1EE}"/>
              </a:ext>
            </a:extLst>
          </p:cNvPr>
          <p:cNvSpPr/>
          <p:nvPr/>
        </p:nvSpPr>
        <p:spPr>
          <a:xfrm>
            <a:off x="6781075" y="4093179"/>
            <a:ext cx="4851399" cy="2375860"/>
          </a:xfrm>
          <a:prstGeom prst="roundRect">
            <a:avLst>
              <a:gd name="adj" fmla="val 8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Skill trend chart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096AF1D-0CC7-F387-410F-3926ADE55379}"/>
              </a:ext>
            </a:extLst>
          </p:cNvPr>
          <p:cNvSpPr/>
          <p:nvPr/>
        </p:nvSpPr>
        <p:spPr>
          <a:xfrm>
            <a:off x="9218631" y="4197636"/>
            <a:ext cx="2233843" cy="368843"/>
          </a:xfrm>
          <a:prstGeom prst="roundRect">
            <a:avLst>
              <a:gd name="adj" fmla="val 903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Moderate | Fast AI</a:t>
            </a:r>
          </a:p>
        </p:txBody>
      </p:sp>
      <p:pic>
        <p:nvPicPr>
          <p:cNvPr id="49" name="Graphic 48" descr="Briefcase with solid fill">
            <a:extLst>
              <a:ext uri="{FF2B5EF4-FFF2-40B4-BE49-F238E27FC236}">
                <a16:creationId xmlns:a16="http://schemas.microsoft.com/office/drawing/2014/main" id="{068C8E23-989B-E3DF-BE37-E29BBA029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310" y="2425394"/>
            <a:ext cx="644377" cy="644377"/>
          </a:xfrm>
          <a:prstGeom prst="rect">
            <a:avLst/>
          </a:prstGeom>
        </p:spPr>
      </p:pic>
      <p:pic>
        <p:nvPicPr>
          <p:cNvPr id="51" name="Graphic 50" descr="Bar graph with upward trend with solid fill">
            <a:extLst>
              <a:ext uri="{FF2B5EF4-FFF2-40B4-BE49-F238E27FC236}">
                <a16:creationId xmlns:a16="http://schemas.microsoft.com/office/drawing/2014/main" id="{ED5447CD-EF69-EF1C-6CC7-4340A2116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53" name="Graphic 52" descr="Brain in head with solid fill">
            <a:extLst>
              <a:ext uri="{FF2B5EF4-FFF2-40B4-BE49-F238E27FC236}">
                <a16:creationId xmlns:a16="http://schemas.microsoft.com/office/drawing/2014/main" id="{3A4E95CC-BB6F-199E-2E65-C08250E43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78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3D93-A563-1F9C-5A1A-3832CBE1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9B0C2-ADB7-F6B1-0C40-6895ECE9F5A4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CCD8B41-33DE-ECF8-A7A7-2A100F3789C8}"/>
              </a:ext>
            </a:extLst>
          </p:cNvPr>
          <p:cNvGrpSpPr/>
          <p:nvPr/>
        </p:nvGrpSpPr>
        <p:grpSpPr>
          <a:xfrm rot="21396250">
            <a:off x="195801" y="92197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13A83287-E10F-3F8B-2A7E-B00A471E4B0F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00C82AFE-2EB7-2869-8930-11FC5BC4E81F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21" name="Graphic 20" descr="Atom with solid fill">
            <a:extLst>
              <a:ext uri="{FF2B5EF4-FFF2-40B4-BE49-F238E27FC236}">
                <a16:creationId xmlns:a16="http://schemas.microsoft.com/office/drawing/2014/main" id="{0B5D560E-2F2C-39C5-DDCB-C217A4F38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70" y="1076709"/>
            <a:ext cx="666750" cy="6667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5F337E0-5172-BB74-B9E3-E06B1AB1BC5C}"/>
              </a:ext>
            </a:extLst>
          </p:cNvPr>
          <p:cNvSpPr/>
          <p:nvPr/>
        </p:nvSpPr>
        <p:spPr>
          <a:xfrm>
            <a:off x="11452474" y="17496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BD002-552E-67BD-9A51-449C611748A0}"/>
              </a:ext>
            </a:extLst>
          </p:cNvPr>
          <p:cNvSpPr/>
          <p:nvPr/>
        </p:nvSpPr>
        <p:spPr>
          <a:xfrm>
            <a:off x="11419174" y="652440"/>
            <a:ext cx="426600" cy="89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C8EEF4-FD27-5E9E-396A-F736AE5E5B30}"/>
              </a:ext>
            </a:extLst>
          </p:cNvPr>
          <p:cNvCxnSpPr>
            <a:cxnSpLocks/>
          </p:cNvCxnSpPr>
          <p:nvPr/>
        </p:nvCxnSpPr>
        <p:spPr>
          <a:xfrm>
            <a:off x="1203053" y="973909"/>
            <a:ext cx="10609421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D0A9566-FB95-5A78-2C2D-36935E841718}"/>
              </a:ext>
            </a:extLst>
          </p:cNvPr>
          <p:cNvSpPr txBox="1"/>
          <p:nvPr/>
        </p:nvSpPr>
        <p:spPr>
          <a:xfrm>
            <a:off x="1175657" y="660400"/>
            <a:ext cx="2346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Workspace / Personal</a:t>
            </a:r>
          </a:p>
        </p:txBody>
      </p:sp>
      <p:pic>
        <p:nvPicPr>
          <p:cNvPr id="38" name="Picture 37" descr="The image displays a skills summary with categories such as Data Analysis, Cybersecurity, Python, Project, Sustainability, Communication, and Critical Thinking, alongside a future target year of 2030.&#10;&#10;AI-generated content may be incorrect.">
            <a:extLst>
              <a:ext uri="{FF2B5EF4-FFF2-40B4-BE49-F238E27FC236}">
                <a16:creationId xmlns:a16="http://schemas.microsoft.com/office/drawing/2014/main" id="{E748CBB4-C7DC-5034-6180-B582F5E7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62"/>
          <a:stretch>
            <a:fillRect/>
          </a:stretch>
        </p:blipFill>
        <p:spPr>
          <a:xfrm>
            <a:off x="1407885" y="1001205"/>
            <a:ext cx="3506423" cy="1249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Picture 3" descr="Skill trend chart&#10;&#10;AI-generated content may be incorrect.">
            <a:extLst>
              <a:ext uri="{FF2B5EF4-FFF2-40B4-BE49-F238E27FC236}">
                <a16:creationId xmlns:a16="http://schemas.microsoft.com/office/drawing/2014/main" id="{0F858E19-DE96-E60F-9DDD-E545CFADA6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10"/>
          <a:stretch>
            <a:fillRect/>
          </a:stretch>
        </p:blipFill>
        <p:spPr>
          <a:xfrm>
            <a:off x="6719519" y="987556"/>
            <a:ext cx="4471645" cy="143020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E26FA1-8013-5778-522E-29498563DCA0}"/>
              </a:ext>
            </a:extLst>
          </p:cNvPr>
          <p:cNvSpPr/>
          <p:nvPr/>
        </p:nvSpPr>
        <p:spPr>
          <a:xfrm>
            <a:off x="1601749" y="2796641"/>
            <a:ext cx="9589415" cy="3400957"/>
          </a:xfrm>
          <a:prstGeom prst="roundRect">
            <a:avLst>
              <a:gd name="adj" fmla="val 8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EF1285-E528-77B7-6FD4-B726D0EF2EBD}"/>
              </a:ext>
            </a:extLst>
          </p:cNvPr>
          <p:cNvSpPr txBox="1"/>
          <p:nvPr/>
        </p:nvSpPr>
        <p:spPr>
          <a:xfrm>
            <a:off x="1735151" y="2417757"/>
            <a:ext cx="352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Study plan overview | [Job Name]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4A0897-37DD-3549-68D0-D0AF19BE00BF}"/>
              </a:ext>
            </a:extLst>
          </p:cNvPr>
          <p:cNvSpPr/>
          <p:nvPr/>
        </p:nvSpPr>
        <p:spPr>
          <a:xfrm>
            <a:off x="1990854" y="3222541"/>
            <a:ext cx="592347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DCCE33-0080-6808-B171-0B0074C8BB2F}"/>
              </a:ext>
            </a:extLst>
          </p:cNvPr>
          <p:cNvSpPr/>
          <p:nvPr/>
        </p:nvSpPr>
        <p:spPr>
          <a:xfrm>
            <a:off x="1990855" y="4109615"/>
            <a:ext cx="592347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1D9367-AAD8-A06E-E5A6-25A44FAE4807}"/>
              </a:ext>
            </a:extLst>
          </p:cNvPr>
          <p:cNvSpPr/>
          <p:nvPr/>
        </p:nvSpPr>
        <p:spPr>
          <a:xfrm>
            <a:off x="1990854" y="4996689"/>
            <a:ext cx="592347" cy="5635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06E807-FD19-7FA0-638C-BD4FC21CA3C2}"/>
              </a:ext>
            </a:extLst>
          </p:cNvPr>
          <p:cNvSpPr txBox="1"/>
          <p:nvPr/>
        </p:nvSpPr>
        <p:spPr>
          <a:xfrm>
            <a:off x="2685945" y="3222541"/>
            <a:ext cx="234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Python</a:t>
            </a:r>
            <a:endParaRPr lang="en-MY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D4EADF-5D2E-4279-7947-3587B33DAE41}"/>
              </a:ext>
            </a:extLst>
          </p:cNvPr>
          <p:cNvSpPr txBox="1"/>
          <p:nvPr/>
        </p:nvSpPr>
        <p:spPr>
          <a:xfrm>
            <a:off x="2685945" y="4073435"/>
            <a:ext cx="234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C++</a:t>
            </a:r>
            <a:endParaRPr lang="en-MY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2DA5B5-5F15-F0DD-39AD-AE208F3899F5}"/>
              </a:ext>
            </a:extLst>
          </p:cNvPr>
          <p:cNvSpPr txBox="1"/>
          <p:nvPr/>
        </p:nvSpPr>
        <p:spPr>
          <a:xfrm>
            <a:off x="2685945" y="4909153"/>
            <a:ext cx="234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SQL</a:t>
            </a:r>
            <a:endParaRPr lang="en-MY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E9B46BB-57C8-AE50-9E2B-40BE6DEC74B8}"/>
              </a:ext>
            </a:extLst>
          </p:cNvPr>
          <p:cNvSpPr/>
          <p:nvPr/>
        </p:nvSpPr>
        <p:spPr>
          <a:xfrm>
            <a:off x="2825499" y="3679324"/>
            <a:ext cx="5028788" cy="4571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9ABECEB-BC1D-DBE4-77EF-16B87B1B0F6D}"/>
              </a:ext>
            </a:extLst>
          </p:cNvPr>
          <p:cNvSpPr/>
          <p:nvPr/>
        </p:nvSpPr>
        <p:spPr>
          <a:xfrm>
            <a:off x="2825499" y="4609069"/>
            <a:ext cx="5028788" cy="4571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DD1265A-0956-6BD5-2AD7-0FC92A47EC85}"/>
              </a:ext>
            </a:extLst>
          </p:cNvPr>
          <p:cNvSpPr/>
          <p:nvPr/>
        </p:nvSpPr>
        <p:spPr>
          <a:xfrm>
            <a:off x="2825499" y="5487131"/>
            <a:ext cx="5028788" cy="4571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48" name="Picture 47" descr="SDG 8: Decent Work.&#10;&#10;AI-generated content may be incorrect.">
            <a:extLst>
              <a:ext uri="{FF2B5EF4-FFF2-40B4-BE49-F238E27FC236}">
                <a16:creationId xmlns:a16="http://schemas.microsoft.com/office/drawing/2014/main" id="{243814A6-9B38-3C2E-F90F-517CDDF13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505" y="3303756"/>
            <a:ext cx="1987550" cy="194945"/>
          </a:xfrm>
          <a:prstGeom prst="rect">
            <a:avLst/>
          </a:prstGeom>
        </p:spPr>
      </p:pic>
      <p:pic>
        <p:nvPicPr>
          <p:cNvPr id="50" name="Picture 49" descr="SDG 8: Decent Work.&#10;&#10;AI-generated content may be incorrect.">
            <a:extLst>
              <a:ext uri="{FF2B5EF4-FFF2-40B4-BE49-F238E27FC236}">
                <a16:creationId xmlns:a16="http://schemas.microsoft.com/office/drawing/2014/main" id="{0050C9D6-4AB7-60A8-DF0D-25F453C5E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001" y="4173507"/>
            <a:ext cx="1987550" cy="194945"/>
          </a:xfrm>
          <a:prstGeom prst="rect">
            <a:avLst/>
          </a:prstGeom>
        </p:spPr>
      </p:pic>
      <p:pic>
        <p:nvPicPr>
          <p:cNvPr id="52" name="Picture 51" descr="SDG 8: Decent Work.&#10;&#10;AI-generated content may be incorrect.">
            <a:extLst>
              <a:ext uri="{FF2B5EF4-FFF2-40B4-BE49-F238E27FC236}">
                <a16:creationId xmlns:a16="http://schemas.microsoft.com/office/drawing/2014/main" id="{7BF1442E-3E3A-D6A6-0C06-CB25697E3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809" y="5047740"/>
            <a:ext cx="1987550" cy="194945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99122F6-32E1-79E6-A6D3-70A94265AA25}"/>
              </a:ext>
            </a:extLst>
          </p:cNvPr>
          <p:cNvSpPr/>
          <p:nvPr/>
        </p:nvSpPr>
        <p:spPr>
          <a:xfrm>
            <a:off x="8527417" y="3214997"/>
            <a:ext cx="2233843" cy="2464519"/>
          </a:xfrm>
          <a:prstGeom prst="roundRect">
            <a:avLst>
              <a:gd name="adj" fmla="val 903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SDG explanation </a:t>
            </a:r>
          </a:p>
          <a:p>
            <a:pPr algn="ctr"/>
            <a:r>
              <a:rPr lang="en-US" dirty="0"/>
              <a:t>(shows when hover)</a:t>
            </a:r>
            <a:endParaRPr lang="en-MY" dirty="0"/>
          </a:p>
        </p:txBody>
      </p:sp>
      <p:pic>
        <p:nvPicPr>
          <p:cNvPr id="56" name="Graphic 55" descr="Briefcase with solid fill">
            <a:extLst>
              <a:ext uri="{FF2B5EF4-FFF2-40B4-BE49-F238E27FC236}">
                <a16:creationId xmlns:a16="http://schemas.microsoft.com/office/drawing/2014/main" id="{C2D6099C-826E-ACB8-4C09-AA3940B4A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  <p:pic>
        <p:nvPicPr>
          <p:cNvPr id="58" name="Graphic 57" descr="Bar graph with upward trend with solid fill">
            <a:extLst>
              <a:ext uri="{FF2B5EF4-FFF2-40B4-BE49-F238E27FC236}">
                <a16:creationId xmlns:a16="http://schemas.microsoft.com/office/drawing/2014/main" id="{FD01C3AB-A442-3556-24BA-2F0AFE877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6498" y="3710257"/>
            <a:ext cx="723822" cy="723822"/>
          </a:xfrm>
          <a:prstGeom prst="rect">
            <a:avLst/>
          </a:prstGeom>
        </p:spPr>
      </p:pic>
      <p:pic>
        <p:nvPicPr>
          <p:cNvPr id="62" name="Graphic 61" descr="Brain in head with solid fill">
            <a:extLst>
              <a:ext uri="{FF2B5EF4-FFF2-40B4-BE49-F238E27FC236}">
                <a16:creationId xmlns:a16="http://schemas.microsoft.com/office/drawing/2014/main" id="{D15FC17C-DD1A-3143-AF9F-4C3EA45C2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4454" y="5125226"/>
            <a:ext cx="64135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05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6A8030-1949-BE2A-5E3A-BB16D9E1569F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9AC4DC-5308-58BE-7DA5-46AB42FEBC53}"/>
              </a:ext>
            </a:extLst>
          </p:cNvPr>
          <p:cNvGrpSpPr/>
          <p:nvPr/>
        </p:nvGrpSpPr>
        <p:grpSpPr>
          <a:xfrm rot="21396250">
            <a:off x="195801" y="233167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DAA436CD-1CEE-F8F5-B300-D090394D067F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6825CB4D-36BE-D59E-ADFA-0722F198070C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3B5D05EC-2776-1DED-1F29-723A8F86C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8675F51-9646-2DDC-11E5-75B5B77E5817}"/>
              </a:ext>
            </a:extLst>
          </p:cNvPr>
          <p:cNvSpPr txBox="1"/>
          <p:nvPr/>
        </p:nvSpPr>
        <p:spPr>
          <a:xfrm>
            <a:off x="857250" y="114300"/>
            <a:ext cx="3312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u="sng" dirty="0"/>
              <a:t>Explore Pathway Interface (Info)</a:t>
            </a:r>
          </a:p>
        </p:txBody>
      </p:sp>
      <p:pic>
        <p:nvPicPr>
          <p:cNvPr id="39" name="Graphic 38" descr="Briefcase with solid fill">
            <a:extLst>
              <a:ext uri="{FF2B5EF4-FFF2-40B4-BE49-F238E27FC236}">
                <a16:creationId xmlns:a16="http://schemas.microsoft.com/office/drawing/2014/main" id="{84AD4BA4-4E02-E4B0-9D69-746EA77DC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701" y="2425394"/>
            <a:ext cx="644377" cy="644377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5E86DB-1116-AB92-7C90-D580E9A772F8}"/>
              </a:ext>
            </a:extLst>
          </p:cNvPr>
          <p:cNvSpPr/>
          <p:nvPr/>
        </p:nvSpPr>
        <p:spPr>
          <a:xfrm>
            <a:off x="1285036" y="615951"/>
            <a:ext cx="9903664" cy="5993856"/>
          </a:xfrm>
          <a:prstGeom prst="roundRect">
            <a:avLst>
              <a:gd name="adj" fmla="val 83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A4627-85E6-18C7-9971-DE58D71AD451}"/>
              </a:ext>
            </a:extLst>
          </p:cNvPr>
          <p:cNvCxnSpPr/>
          <p:nvPr/>
        </p:nvCxnSpPr>
        <p:spPr>
          <a:xfrm>
            <a:off x="1815475" y="976267"/>
            <a:ext cx="8830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8CC2BE5D-94D4-C030-D299-B4E6D829F3B5}"/>
              </a:ext>
            </a:extLst>
          </p:cNvPr>
          <p:cNvSpPr/>
          <p:nvPr/>
        </p:nvSpPr>
        <p:spPr>
          <a:xfrm>
            <a:off x="3107755" y="940267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4C0C530-EF60-8A9A-786E-B06207B180B5}"/>
              </a:ext>
            </a:extLst>
          </p:cNvPr>
          <p:cNvSpPr/>
          <p:nvPr/>
        </p:nvSpPr>
        <p:spPr>
          <a:xfrm>
            <a:off x="4781880" y="940267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32A036B-0BC1-CEE4-1514-BA352E63F122}"/>
              </a:ext>
            </a:extLst>
          </p:cNvPr>
          <p:cNvSpPr/>
          <p:nvPr/>
        </p:nvSpPr>
        <p:spPr>
          <a:xfrm>
            <a:off x="6301401" y="925089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26EE880-6E9C-8701-2F36-0CE5DD159068}"/>
              </a:ext>
            </a:extLst>
          </p:cNvPr>
          <p:cNvSpPr/>
          <p:nvPr/>
        </p:nvSpPr>
        <p:spPr>
          <a:xfrm>
            <a:off x="7784922" y="925089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A3AD7B4-42E6-4745-2407-69B81CA77D17}"/>
              </a:ext>
            </a:extLst>
          </p:cNvPr>
          <p:cNvSpPr/>
          <p:nvPr/>
        </p:nvSpPr>
        <p:spPr>
          <a:xfrm>
            <a:off x="9268443" y="925089"/>
            <a:ext cx="72000" cy="7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57EA83C-9BE9-6D74-275E-C006BA778312}"/>
              </a:ext>
            </a:extLst>
          </p:cNvPr>
          <p:cNvCxnSpPr>
            <a:cxnSpLocks/>
          </p:cNvCxnSpPr>
          <p:nvPr/>
        </p:nvCxnSpPr>
        <p:spPr>
          <a:xfrm>
            <a:off x="2711562" y="1359033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52C7DA8-29DC-A5E2-820E-897EF19F21B3}"/>
              </a:ext>
            </a:extLst>
          </p:cNvPr>
          <p:cNvCxnSpPr>
            <a:cxnSpLocks/>
          </p:cNvCxnSpPr>
          <p:nvPr/>
        </p:nvCxnSpPr>
        <p:spPr>
          <a:xfrm>
            <a:off x="4428319" y="1359033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35EE13-A933-A5C4-C90A-B4C42DEE7593}"/>
              </a:ext>
            </a:extLst>
          </p:cNvPr>
          <p:cNvCxnSpPr>
            <a:cxnSpLocks/>
          </p:cNvCxnSpPr>
          <p:nvPr/>
        </p:nvCxnSpPr>
        <p:spPr>
          <a:xfrm>
            <a:off x="5905208" y="1359033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56F00DC-C221-1FC1-5619-44DA4B65C4B0}"/>
              </a:ext>
            </a:extLst>
          </p:cNvPr>
          <p:cNvCxnSpPr>
            <a:cxnSpLocks/>
          </p:cNvCxnSpPr>
          <p:nvPr/>
        </p:nvCxnSpPr>
        <p:spPr>
          <a:xfrm>
            <a:off x="7450476" y="1345971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9B34651-A0B6-F757-EB5C-1D1386342A73}"/>
              </a:ext>
            </a:extLst>
          </p:cNvPr>
          <p:cNvCxnSpPr>
            <a:cxnSpLocks/>
          </p:cNvCxnSpPr>
          <p:nvPr/>
        </p:nvCxnSpPr>
        <p:spPr>
          <a:xfrm>
            <a:off x="9116434" y="1345971"/>
            <a:ext cx="936385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2ABD777-8A2C-2639-8DBE-2D0860F26336}"/>
              </a:ext>
            </a:extLst>
          </p:cNvPr>
          <p:cNvSpPr txBox="1"/>
          <p:nvPr/>
        </p:nvSpPr>
        <p:spPr>
          <a:xfrm>
            <a:off x="1634994" y="1769731"/>
            <a:ext cx="94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Interest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3A1A6D7-B44D-B8AC-5549-A0F9055708D9}"/>
              </a:ext>
            </a:extLst>
          </p:cNvPr>
          <p:cNvSpPr/>
          <p:nvPr/>
        </p:nvSpPr>
        <p:spPr>
          <a:xfrm>
            <a:off x="7450476" y="1647838"/>
            <a:ext cx="3312661" cy="2199487"/>
          </a:xfrm>
          <a:prstGeom prst="roundRect">
            <a:avLst>
              <a:gd name="adj" fmla="val 11284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Upload CV</a:t>
            </a:r>
            <a:endParaRPr lang="en-MY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D0937B-CF0B-DC10-05D7-92A1AE149723}"/>
              </a:ext>
            </a:extLst>
          </p:cNvPr>
          <p:cNvSpPr txBox="1"/>
          <p:nvPr/>
        </p:nvSpPr>
        <p:spPr>
          <a:xfrm>
            <a:off x="1634994" y="2603066"/>
            <a:ext cx="119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Education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DAFDCE-554A-0CAB-E7F9-01E878C5448B}"/>
              </a:ext>
            </a:extLst>
          </p:cNvPr>
          <p:cNvSpPr txBox="1"/>
          <p:nvPr/>
        </p:nvSpPr>
        <p:spPr>
          <a:xfrm>
            <a:off x="1634994" y="343640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Experience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3F899ED-B2FE-9C0A-8830-605BF442E4D7}"/>
              </a:ext>
            </a:extLst>
          </p:cNvPr>
          <p:cNvCxnSpPr/>
          <p:nvPr/>
        </p:nvCxnSpPr>
        <p:spPr>
          <a:xfrm>
            <a:off x="1680754" y="4202067"/>
            <a:ext cx="8830492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06F3EE9-C589-80B6-5C11-46AC3CACAECB}"/>
              </a:ext>
            </a:extLst>
          </p:cNvPr>
          <p:cNvSpPr txBox="1"/>
          <p:nvPr/>
        </p:nvSpPr>
        <p:spPr>
          <a:xfrm>
            <a:off x="1680754" y="4334387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SKILLS</a:t>
            </a:r>
            <a:endParaRPr lang="en-MY" b="1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F47609A-FB11-CD53-B1C9-274925CB7237}"/>
              </a:ext>
            </a:extLst>
          </p:cNvPr>
          <p:cNvCxnSpPr/>
          <p:nvPr/>
        </p:nvCxnSpPr>
        <p:spPr>
          <a:xfrm>
            <a:off x="10792892" y="5182188"/>
            <a:ext cx="0" cy="113211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BC5E7A5-84A0-75BA-4D5E-6325CD6C7655}"/>
              </a:ext>
            </a:extLst>
          </p:cNvPr>
          <p:cNvSpPr txBox="1"/>
          <p:nvPr/>
        </p:nvSpPr>
        <p:spPr>
          <a:xfrm>
            <a:off x="9279013" y="5563579"/>
            <a:ext cx="14841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chemeClr val="bg2"/>
                </a:solidFill>
              </a:rPr>
              <a:t>(Scroll down)</a:t>
            </a:r>
          </a:p>
        </p:txBody>
      </p:sp>
      <p:pic>
        <p:nvPicPr>
          <p:cNvPr id="75" name="Graphic 74" descr="Bar graph with upward trend with solid fill">
            <a:extLst>
              <a:ext uri="{FF2B5EF4-FFF2-40B4-BE49-F238E27FC236}">
                <a16:creationId xmlns:a16="http://schemas.microsoft.com/office/drawing/2014/main" id="{1D59251E-9CB4-FE61-BC17-5BF75AB84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77" name="Graphic 76" descr="Brain in head with solid fill">
            <a:extLst>
              <a:ext uri="{FF2B5EF4-FFF2-40B4-BE49-F238E27FC236}">
                <a16:creationId xmlns:a16="http://schemas.microsoft.com/office/drawing/2014/main" id="{B049C8CA-EEEA-8BA8-0DB4-63802C3D3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59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5F63-1E6C-C064-41F5-DC7D46D9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517CB4-0384-964F-D2AC-53313FF4383F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2C827B22-BE85-BCF2-BDAE-56D3FC5C2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7DEC70-960E-F263-0BC6-4BB8825B3618}"/>
              </a:ext>
            </a:extLst>
          </p:cNvPr>
          <p:cNvSpPr/>
          <p:nvPr/>
        </p:nvSpPr>
        <p:spPr>
          <a:xfrm>
            <a:off x="1144168" y="-406400"/>
            <a:ext cx="9903664" cy="7099299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26797F-78EC-6C50-6138-A8F23F966F1F}"/>
              </a:ext>
            </a:extLst>
          </p:cNvPr>
          <p:cNvCxnSpPr/>
          <p:nvPr/>
        </p:nvCxnSpPr>
        <p:spPr>
          <a:xfrm>
            <a:off x="1458504" y="309517"/>
            <a:ext cx="8830492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90100C-BC75-2902-F146-1E5EAE74C377}"/>
              </a:ext>
            </a:extLst>
          </p:cNvPr>
          <p:cNvSpPr txBox="1"/>
          <p:nvPr/>
        </p:nvSpPr>
        <p:spPr>
          <a:xfrm>
            <a:off x="1458504" y="441837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SKILLS</a:t>
            </a:r>
            <a:endParaRPr lang="en-MY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F1C1B-C8DC-8C2F-4293-630480BFCBFC}"/>
              </a:ext>
            </a:extLst>
          </p:cNvPr>
          <p:cNvSpPr txBox="1"/>
          <p:nvPr/>
        </p:nvSpPr>
        <p:spPr>
          <a:xfrm>
            <a:off x="1458504" y="1159157"/>
            <a:ext cx="87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Python</a:t>
            </a:r>
            <a:endParaRPr lang="en-M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C86B2-CACE-5E34-CF90-EC08D8619937}"/>
              </a:ext>
            </a:extLst>
          </p:cNvPr>
          <p:cNvSpPr txBox="1"/>
          <p:nvPr/>
        </p:nvSpPr>
        <p:spPr>
          <a:xfrm>
            <a:off x="1458504" y="231666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M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587561-6437-7BC9-EC76-1294E4DE14CA}"/>
              </a:ext>
            </a:extLst>
          </p:cNvPr>
          <p:cNvSpPr txBox="1"/>
          <p:nvPr/>
        </p:nvSpPr>
        <p:spPr>
          <a:xfrm>
            <a:off x="1458504" y="3382702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C++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84E2D-45E8-1B97-D2E2-83E935FE2BE4}"/>
              </a:ext>
            </a:extLst>
          </p:cNvPr>
          <p:cNvSpPr txBox="1"/>
          <p:nvPr/>
        </p:nvSpPr>
        <p:spPr>
          <a:xfrm>
            <a:off x="1458504" y="4448740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HTML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315E66-373C-0163-261F-9C02D1666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82" y="1662856"/>
            <a:ext cx="4838735" cy="2095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5FB9B3D-B3A6-11AC-C1BE-C978529F6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82" y="2824797"/>
            <a:ext cx="4838735" cy="2095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633EDA-02E2-AE68-0F82-30225B532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29" y="3986738"/>
            <a:ext cx="4838735" cy="2095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E949958-6005-122F-267C-4BB7AE58D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29" y="5148679"/>
            <a:ext cx="4838735" cy="20955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3358895-32B6-7A93-2C1C-65B56E90CB27}"/>
              </a:ext>
            </a:extLst>
          </p:cNvPr>
          <p:cNvSpPr txBox="1"/>
          <p:nvPr/>
        </p:nvSpPr>
        <p:spPr>
          <a:xfrm>
            <a:off x="5319304" y="1154993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3/5</a:t>
            </a:r>
            <a:endParaRPr lang="en-MY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F7272D-DEAE-DB4C-5D7B-FDD7101A4FEB}"/>
              </a:ext>
            </a:extLst>
          </p:cNvPr>
          <p:cNvSpPr txBox="1"/>
          <p:nvPr/>
        </p:nvSpPr>
        <p:spPr>
          <a:xfrm>
            <a:off x="5319304" y="2338113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3/5</a:t>
            </a:r>
            <a:endParaRPr lang="en-MY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9D39C-8A62-9DC6-FDDB-13C5F6077C5C}"/>
              </a:ext>
            </a:extLst>
          </p:cNvPr>
          <p:cNvSpPr txBox="1"/>
          <p:nvPr/>
        </p:nvSpPr>
        <p:spPr>
          <a:xfrm>
            <a:off x="5319304" y="3526927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3/5</a:t>
            </a:r>
            <a:endParaRPr lang="en-MY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5C74A9-0F98-EE20-65C4-21255AB3FFEC}"/>
              </a:ext>
            </a:extLst>
          </p:cNvPr>
          <p:cNvSpPr txBox="1"/>
          <p:nvPr/>
        </p:nvSpPr>
        <p:spPr>
          <a:xfrm>
            <a:off x="5319304" y="4710047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3/5</a:t>
            </a:r>
            <a:endParaRPr lang="en-MY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D4A65C2-2C38-3D94-9679-2C0459C87DD8}"/>
              </a:ext>
            </a:extLst>
          </p:cNvPr>
          <p:cNvSpPr/>
          <p:nvPr/>
        </p:nvSpPr>
        <p:spPr>
          <a:xfrm>
            <a:off x="7042594" y="239915"/>
            <a:ext cx="3312661" cy="3030335"/>
          </a:xfrm>
          <a:prstGeom prst="roundRect">
            <a:avLst>
              <a:gd name="adj" fmla="val 11284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Radar Map (Real time update)</a:t>
            </a:r>
          </a:p>
          <a:p>
            <a:pPr marL="285750" indent="-285750">
              <a:buFontTx/>
              <a:buChar char="-"/>
            </a:pPr>
            <a:r>
              <a:rPr lang="en-US" sz="1100" dirty="0"/>
              <a:t>If not yet select job, no overlapped hexagon</a:t>
            </a:r>
            <a:r>
              <a:rPr lang="en-MY" sz="1100" dirty="0"/>
              <a:t>,</a:t>
            </a:r>
            <a:r>
              <a:rPr lang="zh-CN" altLang="en-US" sz="1100" dirty="0"/>
              <a:t> </a:t>
            </a:r>
            <a:r>
              <a:rPr lang="en-MY" altLang="zh-CN" sz="1100" dirty="0"/>
              <a:t>just</a:t>
            </a:r>
            <a:r>
              <a:rPr lang="zh-CN" altLang="en-US" sz="1100" dirty="0"/>
              <a:t> </a:t>
            </a:r>
            <a:r>
              <a:rPr lang="en-MY" altLang="zh-CN" sz="1100" dirty="0"/>
              <a:t>pure</a:t>
            </a:r>
            <a:r>
              <a:rPr lang="zh-CN" altLang="en-US" sz="1100" dirty="0"/>
              <a:t> </a:t>
            </a:r>
            <a:r>
              <a:rPr lang="en-MY" altLang="zh-CN" sz="1100" dirty="0"/>
              <a:t>skill</a:t>
            </a:r>
            <a:r>
              <a:rPr lang="zh-CN" altLang="en-US" sz="1100" dirty="0"/>
              <a:t> </a:t>
            </a:r>
            <a:r>
              <a:rPr lang="en-MY" altLang="zh-CN" sz="1100" dirty="0"/>
              <a:t>sum</a:t>
            </a:r>
          </a:p>
          <a:p>
            <a:endParaRPr lang="en-MY" altLang="zh-CN" sz="1100" dirty="0"/>
          </a:p>
          <a:p>
            <a:pPr marL="285750" indent="-285750">
              <a:buFontTx/>
              <a:buChar char="-"/>
            </a:pPr>
            <a:r>
              <a:rPr lang="en-MY" sz="1100" dirty="0"/>
              <a:t>If selected job, then have overlapped hexagon (job requirement) along with skill sum</a:t>
            </a:r>
          </a:p>
          <a:p>
            <a:pPr marL="285750" indent="-285750">
              <a:buFontTx/>
              <a:buChar char="-"/>
            </a:pPr>
            <a:endParaRPr lang="en-MY" sz="1100" dirty="0"/>
          </a:p>
          <a:p>
            <a:pPr marL="285750" indent="-285750">
              <a:buFontTx/>
              <a:buChar char="-"/>
            </a:pPr>
            <a:r>
              <a:rPr lang="en-MY" sz="1100" dirty="0"/>
              <a:t>Its like when u adjust skill assessment (4 </a:t>
            </a:r>
            <a:r>
              <a:rPr lang="en-MY" sz="1100" dirty="0">
                <a:sym typeface="Wingdings" panose="05000000000000000000" pitchFamily="2" charset="2"/>
              </a:rPr>
              <a:t> 5), radar map change together</a:t>
            </a:r>
            <a:endParaRPr lang="en-MY" sz="11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A15F39-781D-4A03-83C3-473B90179BDC}"/>
              </a:ext>
            </a:extLst>
          </p:cNvPr>
          <p:cNvGrpSpPr/>
          <p:nvPr/>
        </p:nvGrpSpPr>
        <p:grpSpPr>
          <a:xfrm rot="21396250">
            <a:off x="195801" y="233167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50" name="Teardrop 49">
              <a:extLst>
                <a:ext uri="{FF2B5EF4-FFF2-40B4-BE49-F238E27FC236}">
                  <a16:creationId xmlns:a16="http://schemas.microsoft.com/office/drawing/2014/main" id="{7F11D20C-44B8-CF4F-BB68-18C79E96CB9A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1" name="Teardrop 50">
              <a:extLst>
                <a:ext uri="{FF2B5EF4-FFF2-40B4-BE49-F238E27FC236}">
                  <a16:creationId xmlns:a16="http://schemas.microsoft.com/office/drawing/2014/main" id="{60307473-F69A-E7BE-4DAA-777905E56B96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52" name="Graphic 51" descr="Briefcase with solid fill">
            <a:extLst>
              <a:ext uri="{FF2B5EF4-FFF2-40B4-BE49-F238E27FC236}">
                <a16:creationId xmlns:a16="http://schemas.microsoft.com/office/drawing/2014/main" id="{C9186D9B-3B6D-2E31-2FDB-6F68DAE71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701" y="2425394"/>
            <a:ext cx="644377" cy="644377"/>
          </a:xfrm>
          <a:prstGeom prst="rect">
            <a:avLst/>
          </a:prstGeom>
        </p:spPr>
      </p:pic>
      <p:pic>
        <p:nvPicPr>
          <p:cNvPr id="58" name="Graphic 57" descr="Bar graph with upward trend with solid fill">
            <a:extLst>
              <a:ext uri="{FF2B5EF4-FFF2-40B4-BE49-F238E27FC236}">
                <a16:creationId xmlns:a16="http://schemas.microsoft.com/office/drawing/2014/main" id="{0390D0A4-2E87-2EFA-9091-7B8BB4F04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60" name="Graphic 59" descr="Brain in head with solid fill">
            <a:extLst>
              <a:ext uri="{FF2B5EF4-FFF2-40B4-BE49-F238E27FC236}">
                <a16:creationId xmlns:a16="http://schemas.microsoft.com/office/drawing/2014/main" id="{5936E857-B4B2-1E8C-8392-35B4766CD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57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B0C7-73B9-4509-4675-F42553D9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E6CFEC-05F5-7801-18EB-B51258C6DF31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DDB208-1D45-90AA-39DC-6A5F0A8B609D}"/>
              </a:ext>
            </a:extLst>
          </p:cNvPr>
          <p:cNvGrpSpPr/>
          <p:nvPr/>
        </p:nvGrpSpPr>
        <p:grpSpPr>
          <a:xfrm rot="21396250">
            <a:off x="195801" y="364612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DF6A1620-C62D-3D08-9E83-C6DFCE426255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65E24475-4ADE-BE58-859F-796E80C7011B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AA193A41-AFCF-42A3-95CB-238D40374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5A94A9E8-1669-128E-9BDB-4A4249B9B0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52" y="3729603"/>
            <a:ext cx="723822" cy="723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197DB-3608-E6CC-D48B-1C9833F358CF}"/>
              </a:ext>
            </a:extLst>
          </p:cNvPr>
          <p:cNvSpPr txBox="1"/>
          <p:nvPr/>
        </p:nvSpPr>
        <p:spPr>
          <a:xfrm>
            <a:off x="857250" y="114300"/>
            <a:ext cx="147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Skill</a:t>
            </a:r>
            <a:r>
              <a:rPr lang="en-MY" altLang="zh-CN" u="sng" dirty="0"/>
              <a:t> Analysis</a:t>
            </a:r>
            <a:endParaRPr lang="en-MY" u="sn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833255-7389-45AB-1B9E-B99BA7273580}"/>
              </a:ext>
            </a:extLst>
          </p:cNvPr>
          <p:cNvSpPr/>
          <p:nvPr/>
        </p:nvSpPr>
        <p:spPr>
          <a:xfrm>
            <a:off x="1614029" y="634211"/>
            <a:ext cx="9903664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Horizontal Bar Chart (Skill Trend)</a:t>
            </a:r>
          </a:p>
          <a:p>
            <a:pPr marL="171450" indent="-171450" algn="ctr">
              <a:buFontTx/>
              <a:buChar char="-"/>
            </a:pPr>
            <a:r>
              <a:rPr lang="en-MY" sz="1100" dirty="0">
                <a:solidFill>
                  <a:schemeClr val="tx1"/>
                </a:solidFill>
              </a:rPr>
              <a:t>Click to see future scenarios</a:t>
            </a:r>
          </a:p>
          <a:p>
            <a:pPr marL="171450" indent="-171450" algn="ctr">
              <a:buFontTx/>
              <a:buChar char="-"/>
            </a:pPr>
            <a:r>
              <a:rPr lang="en-MY" sz="1100" dirty="0">
                <a:solidFill>
                  <a:schemeClr val="tx1"/>
                </a:solidFill>
              </a:rPr>
              <a:t>Flip left and right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402D95-729F-FBB3-8FFD-00DDAFCFB86E}"/>
              </a:ext>
            </a:extLst>
          </p:cNvPr>
          <p:cNvSpPr/>
          <p:nvPr/>
        </p:nvSpPr>
        <p:spPr>
          <a:xfrm>
            <a:off x="1614029" y="3453773"/>
            <a:ext cx="4837532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Source 1 Vertical Bar Chart (Job Trend)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B65544-8277-B14E-295C-20011D71CD3C}"/>
              </a:ext>
            </a:extLst>
          </p:cNvPr>
          <p:cNvSpPr/>
          <p:nvPr/>
        </p:nvSpPr>
        <p:spPr>
          <a:xfrm>
            <a:off x="6680161" y="3466472"/>
            <a:ext cx="4837532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Source 2 Vertical Bar Chart (Job Trend)</a:t>
            </a:r>
          </a:p>
        </p:txBody>
      </p:sp>
      <p:pic>
        <p:nvPicPr>
          <p:cNvPr id="37" name="Graphic 36" descr="Brain in head with solid fill">
            <a:extLst>
              <a:ext uri="{FF2B5EF4-FFF2-40B4-BE49-F238E27FC236}">
                <a16:creationId xmlns:a16="http://schemas.microsoft.com/office/drawing/2014/main" id="{67C38F0F-81E0-137E-D570-91E488E09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  <p:pic>
        <p:nvPicPr>
          <p:cNvPr id="39" name="Graphic 38" descr="Briefcase with solid fill">
            <a:extLst>
              <a:ext uri="{FF2B5EF4-FFF2-40B4-BE49-F238E27FC236}">
                <a16:creationId xmlns:a16="http://schemas.microsoft.com/office/drawing/2014/main" id="{C4B5994E-9359-FB6E-7E89-E03239B4E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61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E510-D442-0787-FF9A-82BC7134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95E86D-4342-3637-7248-A015E18531AB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2FA40-6866-DD38-DED6-1811A46252B9}"/>
              </a:ext>
            </a:extLst>
          </p:cNvPr>
          <p:cNvGrpSpPr/>
          <p:nvPr/>
        </p:nvGrpSpPr>
        <p:grpSpPr>
          <a:xfrm rot="21396250">
            <a:off x="195801" y="364612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965811E6-8372-FA5B-6720-77F024E573E9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F5BEA427-98EE-3B58-0F7D-1B0055A01574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FBDF23D8-A5FF-3636-6F09-E63AE0C049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2D3FD146-C417-AA59-9386-A41A124E1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52" y="3729603"/>
            <a:ext cx="723822" cy="723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E8EC4E-B6AD-5D4D-0079-F0AFE68CD41B}"/>
              </a:ext>
            </a:extLst>
          </p:cNvPr>
          <p:cNvSpPr txBox="1"/>
          <p:nvPr/>
        </p:nvSpPr>
        <p:spPr>
          <a:xfrm>
            <a:off x="857250" y="114300"/>
            <a:ext cx="147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Skill</a:t>
            </a:r>
            <a:r>
              <a:rPr lang="en-MY" altLang="zh-CN" u="sng" dirty="0"/>
              <a:t> Analysis</a:t>
            </a:r>
            <a:endParaRPr lang="en-MY" u="sng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FC1A2E5-7C60-CB09-E5E3-6D4A793B89D8}"/>
              </a:ext>
            </a:extLst>
          </p:cNvPr>
          <p:cNvSpPr/>
          <p:nvPr/>
        </p:nvSpPr>
        <p:spPr>
          <a:xfrm>
            <a:off x="1565005" y="751712"/>
            <a:ext cx="4837532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Source 1 Vertical Bar Chart (Job Trend)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644D54-EF74-DFFC-DEDF-C1860EFD4C97}"/>
              </a:ext>
            </a:extLst>
          </p:cNvPr>
          <p:cNvSpPr/>
          <p:nvPr/>
        </p:nvSpPr>
        <p:spPr>
          <a:xfrm>
            <a:off x="6631137" y="764411"/>
            <a:ext cx="4837532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Source 2 Vertical Bar Chart (Job Trend)</a:t>
            </a:r>
          </a:p>
        </p:txBody>
      </p:sp>
      <p:pic>
        <p:nvPicPr>
          <p:cNvPr id="19" name="Graphic 18" descr="Briefcase with solid fill">
            <a:extLst>
              <a:ext uri="{FF2B5EF4-FFF2-40B4-BE49-F238E27FC236}">
                <a16:creationId xmlns:a16="http://schemas.microsoft.com/office/drawing/2014/main" id="{6D9F0F26-78AC-DE25-4519-56BFAF7E8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  <p:pic>
        <p:nvPicPr>
          <p:cNvPr id="22" name="Graphic 21" descr="Brain in head with solid fill">
            <a:extLst>
              <a:ext uri="{FF2B5EF4-FFF2-40B4-BE49-F238E27FC236}">
                <a16:creationId xmlns:a16="http://schemas.microsoft.com/office/drawing/2014/main" id="{8C99EBCD-3877-9595-0E12-205526B19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77E948-B002-1DC3-0FDD-A2AC95D6D65A}"/>
              </a:ext>
            </a:extLst>
          </p:cNvPr>
          <p:cNvSpPr/>
          <p:nvPr/>
        </p:nvSpPr>
        <p:spPr>
          <a:xfrm>
            <a:off x="1565005" y="3552370"/>
            <a:ext cx="9903664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Bare reflection ( future scenarios of job trend)</a:t>
            </a:r>
          </a:p>
          <a:p>
            <a:pPr algn="ctr"/>
            <a:r>
              <a:rPr lang="en-MY" dirty="0">
                <a:solidFill>
                  <a:schemeClr val="tx1"/>
                </a:solidFill>
              </a:rPr>
              <a:t>- Click to flip 180 degrees up and down</a:t>
            </a:r>
          </a:p>
        </p:txBody>
      </p:sp>
    </p:spTree>
    <p:extLst>
      <p:ext uri="{BB962C8B-B14F-4D97-AF65-F5344CB8AC3E}">
        <p14:creationId xmlns:p14="http://schemas.microsoft.com/office/powerpoint/2010/main" val="3502016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E826-A64F-F3F8-8C1B-D5580186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BE8B39-6BC5-6ACF-C22C-9E268A6B5348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7E0E9-6A67-0637-24BD-522051CF4B9B}"/>
              </a:ext>
            </a:extLst>
          </p:cNvPr>
          <p:cNvGrpSpPr/>
          <p:nvPr/>
        </p:nvGrpSpPr>
        <p:grpSpPr>
          <a:xfrm rot="21396250">
            <a:off x="195801" y="364612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0F831DF5-683E-4B90-B2AD-D6C252A6170C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45338A94-9C81-20B3-3186-1D23353BF0B7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AE0D4A09-FD92-EC05-EBE6-CA969059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C66C1F1D-3006-AE8B-E3F1-32AD94184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52" y="3729603"/>
            <a:ext cx="723822" cy="723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854EAF-A520-BBA8-718F-8CEB33D4FDF2}"/>
              </a:ext>
            </a:extLst>
          </p:cNvPr>
          <p:cNvSpPr txBox="1"/>
          <p:nvPr/>
        </p:nvSpPr>
        <p:spPr>
          <a:xfrm>
            <a:off x="857250" y="114300"/>
            <a:ext cx="147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Skill</a:t>
            </a:r>
            <a:r>
              <a:rPr lang="en-MY" altLang="zh-CN" u="sng" dirty="0"/>
              <a:t> Analysis</a:t>
            </a:r>
            <a:endParaRPr lang="en-MY" u="sn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34EA0C-9A20-4A21-53DB-DFA87D0CF3FA}"/>
              </a:ext>
            </a:extLst>
          </p:cNvPr>
          <p:cNvSpPr/>
          <p:nvPr/>
        </p:nvSpPr>
        <p:spPr>
          <a:xfrm>
            <a:off x="1285036" y="3359218"/>
            <a:ext cx="2956764" cy="2798275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0BBC83-5042-4F9C-2F5D-E3F655C118E8}"/>
              </a:ext>
            </a:extLst>
          </p:cNvPr>
          <p:cNvSpPr/>
          <p:nvPr/>
        </p:nvSpPr>
        <p:spPr>
          <a:xfrm>
            <a:off x="4993438" y="3359218"/>
            <a:ext cx="2956764" cy="2798275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5A4223-7AC0-5D1E-D8E8-BD47AAD62B77}"/>
              </a:ext>
            </a:extLst>
          </p:cNvPr>
          <p:cNvSpPr/>
          <p:nvPr/>
        </p:nvSpPr>
        <p:spPr>
          <a:xfrm>
            <a:off x="8701840" y="3359218"/>
            <a:ext cx="2956764" cy="2798275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E42757-09A3-BAAB-4410-775B08F85F24}"/>
              </a:ext>
            </a:extLst>
          </p:cNvPr>
          <p:cNvSpPr/>
          <p:nvPr/>
        </p:nvSpPr>
        <p:spPr>
          <a:xfrm>
            <a:off x="1667004" y="5600699"/>
            <a:ext cx="22255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/>
              <a:t>Set Career Target </a:t>
            </a:r>
            <a:r>
              <a:rPr lang="en-MY" sz="1100" dirty="0">
                <a:sym typeface="Wingdings" panose="05000000000000000000" pitchFamily="2" charset="2"/>
              </a:rPr>
              <a:t></a:t>
            </a:r>
            <a:endParaRPr lang="en-MY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EC53A5-E82F-127D-C787-FADFC884786A}"/>
              </a:ext>
            </a:extLst>
          </p:cNvPr>
          <p:cNvSpPr/>
          <p:nvPr/>
        </p:nvSpPr>
        <p:spPr>
          <a:xfrm>
            <a:off x="5359047" y="5600699"/>
            <a:ext cx="22255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/>
              <a:t>Set Career Target </a:t>
            </a:r>
            <a:r>
              <a:rPr lang="en-MY" sz="1100" dirty="0">
                <a:sym typeface="Wingdings" panose="05000000000000000000" pitchFamily="2" charset="2"/>
              </a:rPr>
              <a:t></a:t>
            </a:r>
            <a:endParaRPr lang="en-MY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DFBE89-63FD-D502-F94C-197E20BD6558}"/>
              </a:ext>
            </a:extLst>
          </p:cNvPr>
          <p:cNvSpPr/>
          <p:nvPr/>
        </p:nvSpPr>
        <p:spPr>
          <a:xfrm>
            <a:off x="9067449" y="5600699"/>
            <a:ext cx="22255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/>
              <a:t>Set Career Target </a:t>
            </a:r>
            <a:r>
              <a:rPr lang="en-MY" sz="1100" dirty="0">
                <a:sym typeface="Wingdings" panose="05000000000000000000" pitchFamily="2" charset="2"/>
              </a:rPr>
              <a:t></a:t>
            </a:r>
            <a:endParaRPr lang="en-MY" sz="1100" dirty="0"/>
          </a:p>
        </p:txBody>
      </p:sp>
      <p:pic>
        <p:nvPicPr>
          <p:cNvPr id="27" name="Picture 26" descr="The image depicts a circular gauge showing 78% readiness.&#10;&#10;AI-generated content may be incorrect.">
            <a:extLst>
              <a:ext uri="{FF2B5EF4-FFF2-40B4-BE49-F238E27FC236}">
                <a16:creationId xmlns:a16="http://schemas.microsoft.com/office/drawing/2014/main" id="{82E281F6-6B64-45EF-6A53-B8AA62CDA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004" y="4053943"/>
            <a:ext cx="1247784" cy="1257309"/>
          </a:xfrm>
          <a:prstGeom prst="rect">
            <a:avLst/>
          </a:prstGeom>
        </p:spPr>
      </p:pic>
      <p:pic>
        <p:nvPicPr>
          <p:cNvPr id="29" name="Picture 28" descr="The image depicts a circular gauge showing 78% readiness.&#10;&#10;AI-generated content may be incorrect.">
            <a:extLst>
              <a:ext uri="{FF2B5EF4-FFF2-40B4-BE49-F238E27FC236}">
                <a16:creationId xmlns:a16="http://schemas.microsoft.com/office/drawing/2014/main" id="{5B9F9B1F-291A-D65D-ADE9-8B01B2F6B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047" y="4124658"/>
            <a:ext cx="1247784" cy="1257309"/>
          </a:xfrm>
          <a:prstGeom prst="rect">
            <a:avLst/>
          </a:prstGeom>
        </p:spPr>
      </p:pic>
      <p:pic>
        <p:nvPicPr>
          <p:cNvPr id="31" name="Picture 30" descr="The image depicts a circular gauge showing 78% readiness.&#10;&#10;AI-generated content may be incorrect.">
            <a:extLst>
              <a:ext uri="{FF2B5EF4-FFF2-40B4-BE49-F238E27FC236}">
                <a16:creationId xmlns:a16="http://schemas.microsoft.com/office/drawing/2014/main" id="{313FA4A4-7C53-2D9D-2674-094C4C4AF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449" y="4053942"/>
            <a:ext cx="1247784" cy="1257309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B02123C-6555-1AB9-60A1-65C6C7E0261C}"/>
              </a:ext>
            </a:extLst>
          </p:cNvPr>
          <p:cNvSpPr/>
          <p:nvPr/>
        </p:nvSpPr>
        <p:spPr>
          <a:xfrm>
            <a:off x="1667004" y="3554211"/>
            <a:ext cx="13619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JOB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79088CD-9B08-A153-4A26-473A9F069468}"/>
              </a:ext>
            </a:extLst>
          </p:cNvPr>
          <p:cNvSpPr/>
          <p:nvPr/>
        </p:nvSpPr>
        <p:spPr>
          <a:xfrm>
            <a:off x="5359047" y="3567864"/>
            <a:ext cx="13619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JOB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DFCD0C-584D-124B-219D-2BD2D4ADA715}"/>
              </a:ext>
            </a:extLst>
          </p:cNvPr>
          <p:cNvSpPr/>
          <p:nvPr/>
        </p:nvSpPr>
        <p:spPr>
          <a:xfrm>
            <a:off x="9067449" y="3554210"/>
            <a:ext cx="1361946" cy="350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JOB</a:t>
            </a:r>
          </a:p>
        </p:txBody>
      </p:sp>
      <p:pic>
        <p:nvPicPr>
          <p:cNvPr id="42" name="Graphic 41" descr="Brain in head with solid fill">
            <a:extLst>
              <a:ext uri="{FF2B5EF4-FFF2-40B4-BE49-F238E27FC236}">
                <a16:creationId xmlns:a16="http://schemas.microsoft.com/office/drawing/2014/main" id="{816EE820-12D0-07BC-6E1D-676793D9A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7954" y="5125226"/>
            <a:ext cx="641350" cy="641350"/>
          </a:xfrm>
          <a:prstGeom prst="rect">
            <a:avLst/>
          </a:prstGeom>
        </p:spPr>
      </p:pic>
      <p:pic>
        <p:nvPicPr>
          <p:cNvPr id="44" name="Graphic 43" descr="Briefcase with solid fill">
            <a:extLst>
              <a:ext uri="{FF2B5EF4-FFF2-40B4-BE49-F238E27FC236}">
                <a16:creationId xmlns:a16="http://schemas.microsoft.com/office/drawing/2014/main" id="{E5C9AF06-7D7E-4E9B-9E78-9CDD025F58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C0A70EC-FA09-2048-B244-B9305E4640FB}"/>
              </a:ext>
            </a:extLst>
          </p:cNvPr>
          <p:cNvSpPr/>
          <p:nvPr/>
        </p:nvSpPr>
        <p:spPr>
          <a:xfrm>
            <a:off x="1654999" y="809170"/>
            <a:ext cx="9903664" cy="22606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Bare reflection ( future scenarios of job trend)</a:t>
            </a:r>
          </a:p>
          <a:p>
            <a:pPr algn="ctr"/>
            <a:r>
              <a:rPr lang="en-MY" dirty="0">
                <a:solidFill>
                  <a:schemeClr val="tx1"/>
                </a:solidFill>
              </a:rPr>
              <a:t>- Click to flip 180 degrees up and down</a:t>
            </a:r>
          </a:p>
        </p:txBody>
      </p:sp>
      <p:pic>
        <p:nvPicPr>
          <p:cNvPr id="48" name="Picture 47" descr="The image depicts a simple, solid, green button with a white, circular, central hole.&#10;&#10;AI-generated content may be incorrect.">
            <a:extLst>
              <a:ext uri="{FF2B5EF4-FFF2-40B4-BE49-F238E27FC236}">
                <a16:creationId xmlns:a16="http://schemas.microsoft.com/office/drawing/2014/main" id="{AEE98C0B-B2E3-5CAF-B0AE-DC1CCDBBD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541" y="3466472"/>
            <a:ext cx="484192" cy="326381"/>
          </a:xfrm>
          <a:prstGeom prst="rect">
            <a:avLst/>
          </a:prstGeom>
        </p:spPr>
      </p:pic>
      <p:pic>
        <p:nvPicPr>
          <p:cNvPr id="50" name="Picture 49" descr="SDG 8: Decent Work.&#10;&#10;AI-generated content may be incorrect.">
            <a:extLst>
              <a:ext uri="{FF2B5EF4-FFF2-40B4-BE49-F238E27FC236}">
                <a16:creationId xmlns:a16="http://schemas.microsoft.com/office/drawing/2014/main" id="{4458ED99-F676-7D1C-388B-ACCAEDAD8B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2517" y="3929713"/>
            <a:ext cx="1987550" cy="1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87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AF15B-0CDF-9EA9-9E78-84757D4F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AD900-88E0-A9D5-BD49-94BC4C6C5792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5B565C-56BE-15BA-2856-22F68B4E2713}"/>
              </a:ext>
            </a:extLst>
          </p:cNvPr>
          <p:cNvGrpSpPr/>
          <p:nvPr/>
        </p:nvGrpSpPr>
        <p:grpSpPr>
          <a:xfrm rot="21396250">
            <a:off x="195801" y="483992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958E5CB7-0838-7A3B-15EF-55CBD0638202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6C27E664-3A72-1DE0-AF07-D8BF8F89A787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1ACCB670-D633-16E1-BB79-DEE8533B9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35255-0F7C-8D2B-6F1D-B2B881EDC3AD}"/>
              </a:ext>
            </a:extLst>
          </p:cNvPr>
          <p:cNvSpPr txBox="1"/>
          <p:nvPr/>
        </p:nvSpPr>
        <p:spPr>
          <a:xfrm>
            <a:off x="857250" y="11430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u="sng" dirty="0"/>
              <a:t>[Job Name]</a:t>
            </a:r>
          </a:p>
        </p:txBody>
      </p:sp>
      <p:pic>
        <p:nvPicPr>
          <p:cNvPr id="16" name="Graphic 15" descr="Brain in head with solid fill">
            <a:extLst>
              <a:ext uri="{FF2B5EF4-FFF2-40B4-BE49-F238E27FC236}">
                <a16:creationId xmlns:a16="http://schemas.microsoft.com/office/drawing/2014/main" id="{122953DD-D48A-F2A9-BDC1-C9F24586A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701" y="4959349"/>
            <a:ext cx="641350" cy="641350"/>
          </a:xfrm>
          <a:prstGeom prst="rect">
            <a:avLst/>
          </a:prstGeom>
        </p:spPr>
      </p:pic>
      <p:pic>
        <p:nvPicPr>
          <p:cNvPr id="18" name="Graphic 17" descr="Briefcase with solid fill">
            <a:extLst>
              <a:ext uri="{FF2B5EF4-FFF2-40B4-BE49-F238E27FC236}">
                <a16:creationId xmlns:a16="http://schemas.microsoft.com/office/drawing/2014/main" id="{744AF3BA-4262-6C5E-CA49-7FC2B2CE0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  <p:pic>
        <p:nvPicPr>
          <p:cNvPr id="21" name="Graphic 20" descr="Bar graph with upward trend with solid fill">
            <a:extLst>
              <a:ext uri="{FF2B5EF4-FFF2-40B4-BE49-F238E27FC236}">
                <a16:creationId xmlns:a16="http://schemas.microsoft.com/office/drawing/2014/main" id="{63E725F5-EA89-37FC-165B-925333FA4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3" name="Picture 2" descr="The diagram is a pie chart illustrating various skills for a future targeted year of 2030, emphasizing data analysis, cybersecurity, Python, project management, sustainability, communication, and critical thinking.&#10;&#10;AI-generated content may be incorrect.">
            <a:extLst>
              <a:ext uri="{FF2B5EF4-FFF2-40B4-BE49-F238E27FC236}">
                <a16:creationId xmlns:a16="http://schemas.microsoft.com/office/drawing/2014/main" id="{C8E19A61-E3A9-03E8-E67E-A5568215B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506" y="483632"/>
            <a:ext cx="3363982" cy="350763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093171-06B2-2545-E568-523A0F42F1C0}"/>
              </a:ext>
            </a:extLst>
          </p:cNvPr>
          <p:cNvSpPr/>
          <p:nvPr/>
        </p:nvSpPr>
        <p:spPr>
          <a:xfrm>
            <a:off x="9207480" y="964481"/>
            <a:ext cx="2233843" cy="2464519"/>
          </a:xfrm>
          <a:prstGeom prst="roundRect">
            <a:avLst>
              <a:gd name="adj" fmla="val 903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SDG explanation </a:t>
            </a:r>
          </a:p>
          <a:p>
            <a:pPr algn="ctr"/>
            <a:r>
              <a:rPr lang="en-US" dirty="0"/>
              <a:t>(shows when hover)</a:t>
            </a:r>
          </a:p>
          <a:p>
            <a:pPr algn="ctr"/>
            <a:r>
              <a:rPr lang="en-US" dirty="0"/>
              <a:t>- Skill’s SDG</a:t>
            </a:r>
            <a:endParaRPr lang="en-MY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9E998D-E879-6BF6-816C-172FE90677DE}"/>
              </a:ext>
            </a:extLst>
          </p:cNvPr>
          <p:cNvSpPr/>
          <p:nvPr/>
        </p:nvSpPr>
        <p:spPr>
          <a:xfrm>
            <a:off x="1703671" y="964481"/>
            <a:ext cx="2233843" cy="2464519"/>
          </a:xfrm>
          <a:prstGeom prst="roundRect">
            <a:avLst>
              <a:gd name="adj" fmla="val 903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SDG explanation </a:t>
            </a:r>
          </a:p>
          <a:p>
            <a:pPr algn="ctr"/>
            <a:r>
              <a:rPr lang="en-US" dirty="0"/>
              <a:t>(shows when hover)</a:t>
            </a:r>
          </a:p>
          <a:p>
            <a:pPr algn="ctr"/>
            <a:r>
              <a:rPr lang="en-US" dirty="0"/>
              <a:t>- Job’s SDG</a:t>
            </a:r>
            <a:endParaRPr lang="en-MY" dirty="0"/>
          </a:p>
        </p:txBody>
      </p:sp>
      <p:pic>
        <p:nvPicPr>
          <p:cNvPr id="23" name="Picture 22" descr="SDG 8: Decent Work.&#10;&#10;AI-generated content may be incorrect.">
            <a:extLst>
              <a:ext uri="{FF2B5EF4-FFF2-40B4-BE49-F238E27FC236}">
                <a16:creationId xmlns:a16="http://schemas.microsoft.com/office/drawing/2014/main" id="{69BE138E-DB97-66E6-9315-EBC2DEB63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755" y="592306"/>
            <a:ext cx="1987550" cy="194945"/>
          </a:xfrm>
          <a:prstGeom prst="rect">
            <a:avLst/>
          </a:prstGeom>
        </p:spPr>
      </p:pic>
      <p:pic>
        <p:nvPicPr>
          <p:cNvPr id="26" name="Picture 25" descr="The image presents a table comparing various data analytics skills, their importance, and their growth trends in the job market.&#10;&#10;AI-generated content may be incorrect.">
            <a:extLst>
              <a:ext uri="{FF2B5EF4-FFF2-40B4-BE49-F238E27FC236}">
                <a16:creationId xmlns:a16="http://schemas.microsoft.com/office/drawing/2014/main" id="{D8065DA4-8A0F-DFD3-B1A1-804A97D73E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320" y="4193973"/>
            <a:ext cx="5864346" cy="2261771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8D1FF3A-1983-DD4E-3ED7-50D9994F7723}"/>
              </a:ext>
            </a:extLst>
          </p:cNvPr>
          <p:cNvSpPr/>
          <p:nvPr/>
        </p:nvSpPr>
        <p:spPr>
          <a:xfrm>
            <a:off x="8674617" y="3896425"/>
            <a:ext cx="3022083" cy="2464519"/>
          </a:xfrm>
          <a:prstGeom prst="roundRect">
            <a:avLst>
              <a:gd name="adj" fmla="val 9030"/>
            </a:avLst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Toggle between Moderate / Fast</a:t>
            </a:r>
          </a:p>
          <a:p>
            <a:pPr algn="ctr"/>
            <a:r>
              <a:rPr lang="en-US" sz="1100" dirty="0"/>
              <a:t>- Can explain what does it mean</a:t>
            </a:r>
            <a:endParaRPr lang="en-MY" sz="1100" dirty="0"/>
          </a:p>
        </p:txBody>
      </p:sp>
      <p:pic>
        <p:nvPicPr>
          <p:cNvPr id="39" name="Picture 38" descr="The image depicts a simple, solid, green button with a white, circular, central hole.&#10;&#10;AI-generated content may be incorrect.">
            <a:extLst>
              <a:ext uri="{FF2B5EF4-FFF2-40B4-BE49-F238E27FC236}">
                <a16:creationId xmlns:a16="http://schemas.microsoft.com/office/drawing/2014/main" id="{8E6E67D7-9ABA-D952-E364-7B48C5721F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3758" y="5948544"/>
            <a:ext cx="484192" cy="326381"/>
          </a:xfrm>
          <a:prstGeom prst="rect">
            <a:avLst/>
          </a:prstGeom>
        </p:spPr>
      </p:pic>
      <p:pic>
        <p:nvPicPr>
          <p:cNvPr id="4" name="Picture 3" descr="SDG 8: Decent Work.&#10;&#10;AI-generated content may be incorrect.">
            <a:extLst>
              <a:ext uri="{FF2B5EF4-FFF2-40B4-BE49-F238E27FC236}">
                <a16:creationId xmlns:a16="http://schemas.microsoft.com/office/drawing/2014/main" id="{49B6190F-2FF9-C5D8-946B-107E72941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51" y="494833"/>
            <a:ext cx="1987550" cy="1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46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C13F-0F30-0C59-A001-461BA77F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F691F-9154-FF90-2348-9EF3B3E6A446}"/>
              </a:ext>
            </a:extLst>
          </p:cNvPr>
          <p:cNvSpPr/>
          <p:nvPr/>
        </p:nvSpPr>
        <p:spPr>
          <a:xfrm>
            <a:off x="-869303" y="1649"/>
            <a:ext cx="1501748" cy="68563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B64A43-D8D7-11C1-1A0A-930569321A7E}"/>
              </a:ext>
            </a:extLst>
          </p:cNvPr>
          <p:cNvGrpSpPr/>
          <p:nvPr/>
        </p:nvGrpSpPr>
        <p:grpSpPr>
          <a:xfrm rot="21396250">
            <a:off x="195801" y="4839924"/>
            <a:ext cx="892926" cy="949419"/>
            <a:chOff x="4800700" y="3805822"/>
            <a:chExt cx="892926" cy="949419"/>
          </a:xfrm>
          <a:solidFill>
            <a:schemeClr val="tx1"/>
          </a:solidFill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0AC1710D-538F-AA91-EF2E-DFF148E1D928}"/>
                </a:ext>
              </a:extLst>
            </p:cNvPr>
            <p:cNvSpPr/>
            <p:nvPr/>
          </p:nvSpPr>
          <p:spPr>
            <a:xfrm rot="19185303">
              <a:off x="4800700" y="3805822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B993379D-D6C4-60FE-2D41-703253E6B0F5}"/>
                </a:ext>
              </a:extLst>
            </p:cNvPr>
            <p:cNvSpPr/>
            <p:nvPr/>
          </p:nvSpPr>
          <p:spPr>
            <a:xfrm rot="8400000">
              <a:off x="4800997" y="3826327"/>
              <a:ext cx="892629" cy="928914"/>
            </a:xfrm>
            <a:prstGeom prst="teardrop">
              <a:avLst>
                <a:gd name="adj" fmla="val 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85360815-58CB-19B6-8762-329E5CB79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674" y="1010448"/>
            <a:ext cx="666750" cy="66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19213-05DD-F49B-52C5-B2691745CCF3}"/>
              </a:ext>
            </a:extLst>
          </p:cNvPr>
          <p:cNvSpPr txBox="1"/>
          <p:nvPr/>
        </p:nvSpPr>
        <p:spPr>
          <a:xfrm>
            <a:off x="857250" y="11430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u="sng" dirty="0"/>
              <a:t>[Job Name]</a:t>
            </a:r>
          </a:p>
        </p:txBody>
      </p:sp>
      <p:pic>
        <p:nvPicPr>
          <p:cNvPr id="16" name="Graphic 15" descr="Brain in head with solid fill">
            <a:extLst>
              <a:ext uri="{FF2B5EF4-FFF2-40B4-BE49-F238E27FC236}">
                <a16:creationId xmlns:a16="http://schemas.microsoft.com/office/drawing/2014/main" id="{114457FD-8806-8445-8FD9-178F226AF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701" y="4959349"/>
            <a:ext cx="641350" cy="641350"/>
          </a:xfrm>
          <a:prstGeom prst="rect">
            <a:avLst/>
          </a:prstGeom>
        </p:spPr>
      </p:pic>
      <p:pic>
        <p:nvPicPr>
          <p:cNvPr id="18" name="Graphic 17" descr="Briefcase with solid fill">
            <a:extLst>
              <a:ext uri="{FF2B5EF4-FFF2-40B4-BE49-F238E27FC236}">
                <a16:creationId xmlns:a16="http://schemas.microsoft.com/office/drawing/2014/main" id="{337328BF-75E6-527C-0804-1B1D3AF53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25394"/>
            <a:ext cx="599617" cy="599617"/>
          </a:xfrm>
          <a:prstGeom prst="rect">
            <a:avLst/>
          </a:prstGeom>
        </p:spPr>
      </p:pic>
      <p:pic>
        <p:nvPicPr>
          <p:cNvPr id="21" name="Graphic 20" descr="Bar graph with upward trend with solid fill">
            <a:extLst>
              <a:ext uri="{FF2B5EF4-FFF2-40B4-BE49-F238E27FC236}">
                <a16:creationId xmlns:a16="http://schemas.microsoft.com/office/drawing/2014/main" id="{628275AF-B34E-EDBF-6DA7-BBB2D3615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9345" y="3986738"/>
            <a:ext cx="723822" cy="723822"/>
          </a:xfrm>
          <a:prstGeom prst="rect">
            <a:avLst/>
          </a:prstGeom>
        </p:spPr>
      </p:pic>
      <p:pic>
        <p:nvPicPr>
          <p:cNvPr id="3" name="Picture 2" descr="The diagram is a pie chart illustrating various skills for a future targeted year of 2030, emphasizing data analysis, cybersecurity, Python, project management, sustainability, communication, and critical thinking.&#10;&#10;AI-generated content may be incorrect.">
            <a:extLst>
              <a:ext uri="{FF2B5EF4-FFF2-40B4-BE49-F238E27FC236}">
                <a16:creationId xmlns:a16="http://schemas.microsoft.com/office/drawing/2014/main" id="{A91A8A9D-A44C-958A-A8D9-08BF77B56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506" y="483632"/>
            <a:ext cx="3363982" cy="350763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4777DC-30CE-1BBD-B8C7-6D777D6E9BC9}"/>
              </a:ext>
            </a:extLst>
          </p:cNvPr>
          <p:cNvSpPr/>
          <p:nvPr/>
        </p:nvSpPr>
        <p:spPr>
          <a:xfrm>
            <a:off x="9207480" y="964481"/>
            <a:ext cx="2233843" cy="2464519"/>
          </a:xfrm>
          <a:prstGeom prst="roundRect">
            <a:avLst>
              <a:gd name="adj" fmla="val 903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SDG explanation </a:t>
            </a:r>
          </a:p>
          <a:p>
            <a:pPr algn="ctr"/>
            <a:r>
              <a:rPr lang="en-US" dirty="0"/>
              <a:t>(shows when hover)</a:t>
            </a:r>
          </a:p>
          <a:p>
            <a:pPr algn="ctr"/>
            <a:r>
              <a:rPr lang="en-US" dirty="0"/>
              <a:t>- Skill’s SDG</a:t>
            </a:r>
            <a:endParaRPr lang="en-MY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2829C3-C769-A75E-AD4C-7121624721F8}"/>
              </a:ext>
            </a:extLst>
          </p:cNvPr>
          <p:cNvSpPr/>
          <p:nvPr/>
        </p:nvSpPr>
        <p:spPr>
          <a:xfrm>
            <a:off x="1703671" y="964481"/>
            <a:ext cx="2233843" cy="2464519"/>
          </a:xfrm>
          <a:prstGeom prst="roundRect">
            <a:avLst>
              <a:gd name="adj" fmla="val 903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SDG explanation </a:t>
            </a:r>
          </a:p>
          <a:p>
            <a:pPr algn="ctr"/>
            <a:r>
              <a:rPr lang="en-US" dirty="0"/>
              <a:t>(shows when hover)</a:t>
            </a:r>
          </a:p>
          <a:p>
            <a:pPr algn="ctr"/>
            <a:r>
              <a:rPr lang="en-US" dirty="0"/>
              <a:t>- Job’s SDG</a:t>
            </a:r>
            <a:endParaRPr lang="en-MY" dirty="0"/>
          </a:p>
        </p:txBody>
      </p:sp>
      <p:pic>
        <p:nvPicPr>
          <p:cNvPr id="23" name="Picture 22" descr="SDG 8: Decent Work.&#10;&#10;AI-generated content may be incorrect.">
            <a:extLst>
              <a:ext uri="{FF2B5EF4-FFF2-40B4-BE49-F238E27FC236}">
                <a16:creationId xmlns:a16="http://schemas.microsoft.com/office/drawing/2014/main" id="{BB90FEC4-5C88-737D-AE72-B98D2820C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755" y="592306"/>
            <a:ext cx="1987550" cy="194945"/>
          </a:xfrm>
          <a:prstGeom prst="rect">
            <a:avLst/>
          </a:prstGeom>
        </p:spPr>
      </p:pic>
      <p:pic>
        <p:nvPicPr>
          <p:cNvPr id="26" name="Picture 25" descr="The image presents a table comparing various data analytics skills, their importance, and their growth trends in the job market.&#10;&#10;AI-generated content may be incorrect.">
            <a:extLst>
              <a:ext uri="{FF2B5EF4-FFF2-40B4-BE49-F238E27FC236}">
                <a16:creationId xmlns:a16="http://schemas.microsoft.com/office/drawing/2014/main" id="{F8708296-7998-44C9-8533-F01AFD9B33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320" y="4193973"/>
            <a:ext cx="5864346" cy="2261771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465D58-4020-988A-35BB-7B26F2579225}"/>
              </a:ext>
            </a:extLst>
          </p:cNvPr>
          <p:cNvSpPr/>
          <p:nvPr/>
        </p:nvSpPr>
        <p:spPr>
          <a:xfrm>
            <a:off x="8674617" y="3896425"/>
            <a:ext cx="3022083" cy="2464519"/>
          </a:xfrm>
          <a:prstGeom prst="roundRect">
            <a:avLst>
              <a:gd name="adj" fmla="val 9030"/>
            </a:avLst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Toggle between Moderate / Fast</a:t>
            </a:r>
          </a:p>
          <a:p>
            <a:pPr algn="ctr"/>
            <a:r>
              <a:rPr lang="en-US" sz="1100" dirty="0"/>
              <a:t>- Can explain what does it mean</a:t>
            </a:r>
            <a:endParaRPr lang="en-MY" sz="1100" dirty="0"/>
          </a:p>
        </p:txBody>
      </p:sp>
      <p:pic>
        <p:nvPicPr>
          <p:cNvPr id="39" name="Picture 38" descr="The image depicts a simple, solid, green button with a white, circular, central hole.&#10;&#10;AI-generated content may be incorrect.">
            <a:extLst>
              <a:ext uri="{FF2B5EF4-FFF2-40B4-BE49-F238E27FC236}">
                <a16:creationId xmlns:a16="http://schemas.microsoft.com/office/drawing/2014/main" id="{6363382B-2D6F-7951-7721-3082408248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3758" y="5948544"/>
            <a:ext cx="484192" cy="326381"/>
          </a:xfrm>
          <a:prstGeom prst="rect">
            <a:avLst/>
          </a:prstGeom>
        </p:spPr>
      </p:pic>
      <p:pic>
        <p:nvPicPr>
          <p:cNvPr id="4" name="Picture 3" descr="SDG 8: Decent Work.&#10;&#10;AI-generated content may be incorrect.">
            <a:extLst>
              <a:ext uri="{FF2B5EF4-FFF2-40B4-BE49-F238E27FC236}">
                <a16:creationId xmlns:a16="http://schemas.microsoft.com/office/drawing/2014/main" id="{6E2AA444-279F-7365-6B66-805DE25CF7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51" y="494833"/>
            <a:ext cx="1987550" cy="1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03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330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FONG XIN YAN</dc:creator>
  <cp:lastModifiedBy>FONG XIN YAN</cp:lastModifiedBy>
  <cp:revision>6</cp:revision>
  <dcterms:created xsi:type="dcterms:W3CDTF">2026-10-22T05:08:32Z</dcterms:created>
  <dcterms:modified xsi:type="dcterms:W3CDTF">2026-10-22T07:04:08Z</dcterms:modified>
</cp:coreProperties>
</file>